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2"/>
  </p:notesMasterIdLst>
  <p:sldIdLst>
    <p:sldId id="256" r:id="rId2"/>
    <p:sldId id="257" r:id="rId3"/>
    <p:sldId id="258"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0" d="100"/>
          <a:sy n="40" d="100"/>
        </p:scale>
        <p:origin x="44"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21FD3-0BD8-4939-8465-696C7B42AFD8}" type="datetimeFigureOut">
              <a:rPr kumimoji="1" lang="ja-JP" altLang="en-US" smtClean="0"/>
              <a:t>2025/12/2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2A9E8-C0B6-446A-956B-E217AC52A8D9}" type="slidenum">
              <a:rPr kumimoji="1" lang="ja-JP" altLang="en-US" smtClean="0"/>
              <a:t>‹#›</a:t>
            </a:fld>
            <a:endParaRPr kumimoji="1" lang="ja-JP" altLang="en-US"/>
          </a:p>
        </p:txBody>
      </p:sp>
    </p:spTree>
    <p:extLst>
      <p:ext uri="{BB962C8B-B14F-4D97-AF65-F5344CB8AC3E}">
        <p14:creationId xmlns:p14="http://schemas.microsoft.com/office/powerpoint/2010/main" val="417439043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872A9E8-C0B6-446A-956B-E217AC52A8D9}" type="slidenum">
              <a:rPr kumimoji="1" lang="ja-JP" altLang="en-US" smtClean="0"/>
              <a:t>7</a:t>
            </a:fld>
            <a:endParaRPr kumimoji="1" lang="ja-JP" altLang="en-US"/>
          </a:p>
        </p:txBody>
      </p:sp>
    </p:spTree>
    <p:extLst>
      <p:ext uri="{BB962C8B-B14F-4D97-AF65-F5344CB8AC3E}">
        <p14:creationId xmlns:p14="http://schemas.microsoft.com/office/powerpoint/2010/main" val="991898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1">
        <a:schemeClr val="bg1"/>
      </p:bgRef>
    </p:bg>
    <p:spTree>
      <p:nvGrpSpPr>
        <p:cNvPr id="1" name=""/>
        <p:cNvGrpSpPr/>
        <p:nvPr/>
      </p:nvGrpSpPr>
      <p:grpSpPr>
        <a:xfrm>
          <a:off x="0" y="0"/>
          <a:ext cx="0" cy="0"/>
          <a:chOff x="0" y="0"/>
          <a:chExt cx="0" cy="0"/>
        </a:xfrm>
      </p:grpSpPr>
      <p:sp>
        <p:nvSpPr>
          <p:cNvPr id="8" name="Rectangle 7"/>
          <p:cNvSpPr/>
          <p:nvPr/>
        </p:nvSpPr>
        <p:spPr>
          <a:xfrm>
            <a:off x="-6843" y="3887812"/>
            <a:ext cx="12195668"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1"/>
          <p:cNvSpPr>
            <a:spLocks noGrp="1"/>
          </p:cNvSpPr>
          <p:nvPr>
            <p:ph type="ctrTitle"/>
          </p:nvPr>
        </p:nvSpPr>
        <p:spPr>
          <a:xfrm>
            <a:off x="475488" y="2166364"/>
            <a:ext cx="11247120" cy="1739347"/>
          </a:xfrm>
        </p:spPr>
        <p:txBody>
          <a:bodyPr tIns="45720" bIns="45720" anchor="ctr">
            <a:normAutofit/>
          </a:bodyPr>
          <a:lstStyle>
            <a:lvl1pPr algn="ctr">
              <a:lnSpc>
                <a:spcPct val="80000"/>
              </a:lnSpc>
              <a:defRPr sz="6000" spc="150" baseline="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347472" y="3913632"/>
            <a:ext cx="11506200" cy="457200"/>
          </a:xfrm>
        </p:spPr>
        <p:txBody>
          <a:bodyPr>
            <a:normAutofit/>
          </a:bodyPr>
          <a:lstStyle>
            <a:lvl1pPr marL="0" indent="0" algn="ctr">
              <a:spcBef>
                <a:spcPts val="0"/>
              </a:spcBef>
              <a:spcAft>
                <a:spcPts val="0"/>
              </a:spcAft>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408591536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2398849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43" y="3887812"/>
            <a:ext cx="12195668"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75488" y="2167128"/>
            <a:ext cx="11247120" cy="1737360"/>
          </a:xfrm>
        </p:spPr>
        <p:txBody>
          <a:bodyPr anchor="ctr">
            <a:noAutofit/>
          </a:bodyPr>
          <a:lstStyle>
            <a:lvl1pPr algn="ctr">
              <a:lnSpc>
                <a:spcPct val="80000"/>
              </a:lnSpc>
              <a:defRPr sz="6000" b="0" spc="150" baseline="0">
                <a:solidFill>
                  <a:schemeClr val="bg1"/>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347472" y="3913212"/>
            <a:ext cx="11503152" cy="457200"/>
          </a:xfrm>
        </p:spPr>
        <p:txBody>
          <a:bodyPr anchor="t">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solidFill>
                  <a:schemeClr val="tx2"/>
                </a:solidFill>
              </a:defRPr>
            </a:lvl1p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3921946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2834452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3867090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576707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2448776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255284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593987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2094337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11"/>
          </p:nvPr>
        </p:nvSpPr>
        <p:spPr>
          <a:xfrm>
            <a:off x="3776135" y="6422854"/>
            <a:ext cx="4279669" cy="365125"/>
          </a:xfrm>
        </p:spPr>
        <p:txBody>
          <a:bodyPr/>
          <a:lstStyle/>
          <a:p>
            <a:endParaRPr kumimoji="1" lang="ja-JP" altLang="en-US"/>
          </a:p>
        </p:txBody>
      </p:sp>
      <p:sp>
        <p:nvSpPr>
          <p:cNvPr id="6" name="Slide Number Placeholder 5"/>
          <p:cNvSpPr>
            <a:spLocks noGrp="1"/>
          </p:cNvSpPr>
          <p:nvPr>
            <p:ph type="sldNum" sz="quarter" idx="12"/>
          </p:nvPr>
        </p:nvSpPr>
        <p:spPr>
          <a:xfrm>
            <a:off x="8073048" y="6422854"/>
            <a:ext cx="879759" cy="365125"/>
          </a:xfrm>
        </p:spPr>
        <p:txBody>
          <a:body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1750171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5B49DDA-0A3E-437B-B582-EDA97E1825AE}" type="datetimeFigureOut">
              <a:rPr kumimoji="1" lang="ja-JP" altLang="en-US" smtClean="0"/>
              <a:t>2025/12/1</a:t>
            </a:fld>
            <a:endParaRPr kumimoji="1" lang="ja-JP" alt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613DF9F-E17F-4D66-9C21-63A680439C59}" type="slidenum">
              <a:rPr kumimoji="1" lang="ja-JP" altLang="en-US" smtClean="0"/>
              <a:t>‹#›</a:t>
            </a:fld>
            <a:endParaRPr kumimoji="1" lang="ja-JP" altLang="en-US"/>
          </a:p>
        </p:txBody>
      </p:sp>
    </p:spTree>
    <p:extLst>
      <p:ext uri="{BB962C8B-B14F-4D97-AF65-F5344CB8AC3E}">
        <p14:creationId xmlns:p14="http://schemas.microsoft.com/office/powerpoint/2010/main" val="170906201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kumimoji="1"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kumimoji="1"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kumimoji="1" sz="16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6851CF-6F11-07BC-BD2D-01DC904B623D}"/>
              </a:ext>
            </a:extLst>
          </p:cNvPr>
          <p:cNvSpPr>
            <a:spLocks noGrp="1"/>
          </p:cNvSpPr>
          <p:nvPr>
            <p:ph type="ctrTitle"/>
          </p:nvPr>
        </p:nvSpPr>
        <p:spPr/>
        <p:txBody>
          <a:bodyPr>
            <a:normAutofit/>
          </a:bodyPr>
          <a:lstStyle/>
          <a:p>
            <a:r>
              <a:rPr kumimoji="1" lang="en-US" altLang="ja-JP" sz="4800" dirty="0"/>
              <a:t>NTT</a:t>
            </a:r>
            <a:r>
              <a:rPr lang="ja-JP" altLang="en-US" sz="4800" dirty="0"/>
              <a:t>株価</a:t>
            </a:r>
            <a:r>
              <a:rPr kumimoji="1" lang="ja-JP" altLang="en-US" sz="4800" dirty="0"/>
              <a:t>予測モデルの構築と精度改善</a:t>
            </a:r>
          </a:p>
        </p:txBody>
      </p:sp>
      <p:sp>
        <p:nvSpPr>
          <p:cNvPr id="3" name="字幕 2">
            <a:extLst>
              <a:ext uri="{FF2B5EF4-FFF2-40B4-BE49-F238E27FC236}">
                <a16:creationId xmlns:a16="http://schemas.microsoft.com/office/drawing/2014/main" id="{B8231914-6639-BB63-12F2-A75EB3AA8EA1}"/>
              </a:ext>
            </a:extLst>
          </p:cNvPr>
          <p:cNvSpPr>
            <a:spLocks noGrp="1"/>
          </p:cNvSpPr>
          <p:nvPr>
            <p:ph type="subTitle" idx="1"/>
          </p:nvPr>
        </p:nvSpPr>
        <p:spPr/>
        <p:txBody>
          <a:bodyPr/>
          <a:lstStyle/>
          <a:p>
            <a:r>
              <a:rPr lang="en-US" altLang="ja-JP" dirty="0">
                <a:latin typeface="+mj-ea"/>
                <a:ea typeface="+mj-ea"/>
              </a:rPr>
              <a:t>1987–2024</a:t>
            </a:r>
            <a:r>
              <a:rPr lang="en-US" altLang="ja-JP" dirty="0"/>
              <a:t> </a:t>
            </a:r>
            <a:r>
              <a:rPr lang="ja-JP" altLang="en-US" dirty="0"/>
              <a:t>の時系列データを用いたて</a:t>
            </a:r>
            <a:r>
              <a:rPr lang="en-US" altLang="ja-JP" dirty="0" err="1"/>
              <a:t>LightGBM</a:t>
            </a:r>
            <a:r>
              <a:rPr lang="en-US" altLang="ja-JP" dirty="0"/>
              <a:t> </a:t>
            </a:r>
            <a:r>
              <a:rPr lang="ja-JP" altLang="en-US" dirty="0"/>
              <a:t>モデルでの検証</a:t>
            </a:r>
            <a:endParaRPr kumimoji="1" lang="ja-JP" altLang="en-US" dirty="0"/>
          </a:p>
        </p:txBody>
      </p:sp>
    </p:spTree>
    <p:extLst>
      <p:ext uri="{BB962C8B-B14F-4D97-AF65-F5344CB8AC3E}">
        <p14:creationId xmlns:p14="http://schemas.microsoft.com/office/powerpoint/2010/main" val="2480400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1C2EB7-4862-4EA7-79B6-15E19435A430}"/>
              </a:ext>
            </a:extLst>
          </p:cNvPr>
          <p:cNvSpPr>
            <a:spLocks noGrp="1"/>
          </p:cNvSpPr>
          <p:nvPr>
            <p:ph type="title"/>
          </p:nvPr>
        </p:nvSpPr>
        <p:spPr/>
        <p:txBody>
          <a:bodyPr>
            <a:normAutofit/>
          </a:bodyPr>
          <a:lstStyle/>
          <a:p>
            <a:pPr algn="ctr"/>
            <a:r>
              <a:rPr kumimoji="1" lang="ja-JP" altLang="en-US" sz="4800" dirty="0"/>
              <a:t>概要</a:t>
            </a:r>
          </a:p>
        </p:txBody>
      </p:sp>
      <p:sp>
        <p:nvSpPr>
          <p:cNvPr id="4" name="テキスト ボックス 3">
            <a:extLst>
              <a:ext uri="{FF2B5EF4-FFF2-40B4-BE49-F238E27FC236}">
                <a16:creationId xmlns:a16="http://schemas.microsoft.com/office/drawing/2014/main" id="{3C67C3DE-DF2A-A085-AF3F-5BD5AC2AFACF}"/>
              </a:ext>
            </a:extLst>
          </p:cNvPr>
          <p:cNvSpPr txBox="1"/>
          <p:nvPr/>
        </p:nvSpPr>
        <p:spPr>
          <a:xfrm>
            <a:off x="4710546" y="2184934"/>
            <a:ext cx="3365049" cy="4031873"/>
          </a:xfrm>
          <a:prstGeom prst="rect">
            <a:avLst/>
          </a:prstGeom>
          <a:noFill/>
        </p:spPr>
        <p:txBody>
          <a:bodyPr wrap="square" rtlCol="0">
            <a:spAutoFit/>
          </a:bodyPr>
          <a:lstStyle/>
          <a:p>
            <a:r>
              <a:rPr kumimoji="1" lang="ja-JP" altLang="en-US" sz="3200" dirty="0"/>
              <a:t>・背景</a:t>
            </a:r>
            <a:endParaRPr kumimoji="1" lang="en-US" altLang="ja-JP" sz="3200" dirty="0"/>
          </a:p>
          <a:p>
            <a:r>
              <a:rPr kumimoji="1" lang="ja-JP" altLang="en-US" sz="3200" dirty="0"/>
              <a:t>・データの概要</a:t>
            </a:r>
            <a:endParaRPr kumimoji="1" lang="en-US" altLang="ja-JP" sz="3200" dirty="0"/>
          </a:p>
          <a:p>
            <a:r>
              <a:rPr kumimoji="1" lang="ja-JP" altLang="en-US" sz="3200" dirty="0"/>
              <a:t>・モデルの概要</a:t>
            </a:r>
            <a:endParaRPr kumimoji="1" lang="en-US" altLang="ja-JP" sz="3200" dirty="0"/>
          </a:p>
          <a:p>
            <a:r>
              <a:rPr kumimoji="1" lang="ja-JP" altLang="en-US" sz="3200" dirty="0"/>
              <a:t>・評価指標</a:t>
            </a:r>
            <a:endParaRPr kumimoji="1" lang="en-US" altLang="ja-JP" sz="3200" dirty="0"/>
          </a:p>
          <a:p>
            <a:r>
              <a:rPr kumimoji="1" lang="ja-JP" altLang="en-US" sz="3200" dirty="0"/>
              <a:t>・検証内容</a:t>
            </a:r>
            <a:endParaRPr kumimoji="1" lang="en-US" altLang="ja-JP" sz="3200" dirty="0"/>
          </a:p>
          <a:p>
            <a:r>
              <a:rPr kumimoji="1" lang="ja-JP" altLang="en-US" sz="3200" dirty="0"/>
              <a:t>・検証結果１</a:t>
            </a:r>
            <a:endParaRPr kumimoji="1" lang="en-US" altLang="ja-JP" sz="3200" dirty="0"/>
          </a:p>
          <a:p>
            <a:r>
              <a:rPr kumimoji="1" lang="ja-JP" altLang="en-US" sz="3200" dirty="0"/>
              <a:t>・検証結果２</a:t>
            </a:r>
            <a:endParaRPr kumimoji="1" lang="en-US" altLang="ja-JP" sz="3200" dirty="0"/>
          </a:p>
          <a:p>
            <a:r>
              <a:rPr kumimoji="1" lang="ja-JP" altLang="en-US" sz="3200" dirty="0"/>
              <a:t>・まとめ</a:t>
            </a:r>
          </a:p>
        </p:txBody>
      </p:sp>
    </p:spTree>
    <p:extLst>
      <p:ext uri="{BB962C8B-B14F-4D97-AF65-F5344CB8AC3E}">
        <p14:creationId xmlns:p14="http://schemas.microsoft.com/office/powerpoint/2010/main" val="3131089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74AF2B-B71B-1F90-C6C0-9BB3458D07D3}"/>
              </a:ext>
            </a:extLst>
          </p:cNvPr>
          <p:cNvSpPr>
            <a:spLocks noGrp="1"/>
          </p:cNvSpPr>
          <p:nvPr>
            <p:ph type="title"/>
          </p:nvPr>
        </p:nvSpPr>
        <p:spPr>
          <a:xfrm>
            <a:off x="0" y="284176"/>
            <a:ext cx="9784080" cy="1508760"/>
          </a:xfrm>
        </p:spPr>
        <p:txBody>
          <a:bodyPr/>
          <a:lstStyle/>
          <a:p>
            <a:r>
              <a:rPr lang="ja-JP" altLang="en-US" dirty="0"/>
              <a:t>背景：株価予測と</a:t>
            </a:r>
            <a:r>
              <a:rPr lang="en-US" altLang="ja-JP" dirty="0"/>
              <a:t>AI</a:t>
            </a:r>
            <a:r>
              <a:rPr lang="ja-JP" altLang="en-US" dirty="0"/>
              <a:t>の需要</a:t>
            </a:r>
            <a:endParaRPr kumimoji="1" lang="ja-JP" altLang="en-US" dirty="0"/>
          </a:p>
        </p:txBody>
      </p:sp>
      <p:sp>
        <p:nvSpPr>
          <p:cNvPr id="5" name="テキスト ボックス 4">
            <a:extLst>
              <a:ext uri="{FF2B5EF4-FFF2-40B4-BE49-F238E27FC236}">
                <a16:creationId xmlns:a16="http://schemas.microsoft.com/office/drawing/2014/main" id="{C1E252B0-4CE9-C823-90F1-4641F74264E1}"/>
              </a:ext>
            </a:extLst>
          </p:cNvPr>
          <p:cNvSpPr txBox="1"/>
          <p:nvPr/>
        </p:nvSpPr>
        <p:spPr>
          <a:xfrm>
            <a:off x="48126" y="2425566"/>
            <a:ext cx="12095747" cy="1815882"/>
          </a:xfrm>
          <a:prstGeom prst="rect">
            <a:avLst/>
          </a:prstGeom>
          <a:noFill/>
        </p:spPr>
        <p:txBody>
          <a:bodyPr wrap="square" rtlCol="0">
            <a:spAutoFit/>
          </a:bodyPr>
          <a:lstStyle/>
          <a:p>
            <a:r>
              <a:rPr kumimoji="1" lang="ja-JP" altLang="en-US" sz="2800" dirty="0"/>
              <a:t>・近年では投資の判断やリスク管理、価値の評価など様々な場面で</a:t>
            </a:r>
            <a:r>
              <a:rPr kumimoji="1" lang="en-US" altLang="ja-JP" sz="2800" dirty="0"/>
              <a:t>AI</a:t>
            </a:r>
            <a:r>
              <a:rPr kumimoji="1" lang="ja-JP" altLang="en-US" sz="2800" dirty="0"/>
              <a:t>が使用され高度な</a:t>
            </a:r>
            <a:r>
              <a:rPr kumimoji="1" lang="en-US" altLang="ja-JP" sz="2800" dirty="0"/>
              <a:t>AI</a:t>
            </a:r>
            <a:r>
              <a:rPr kumimoji="1" lang="ja-JP" altLang="en-US" sz="2800" dirty="0"/>
              <a:t>の需要が高まっている</a:t>
            </a:r>
            <a:r>
              <a:rPr kumimoji="1" lang="ja-JP" altLang="en-US" sz="2000" dirty="0"/>
              <a:t>。</a:t>
            </a:r>
            <a:endParaRPr kumimoji="1" lang="en-US" altLang="ja-JP" sz="2000" dirty="0"/>
          </a:p>
          <a:p>
            <a:pPr algn="ctr"/>
            <a:r>
              <a:rPr kumimoji="1" lang="ja-JP" altLang="en-US" sz="2800" dirty="0"/>
              <a:t>↓</a:t>
            </a:r>
            <a:endParaRPr kumimoji="1" lang="en-US" altLang="ja-JP" sz="2800" dirty="0"/>
          </a:p>
          <a:p>
            <a:pPr algn="ctr"/>
            <a:r>
              <a:rPr kumimoji="1" lang="ja-JP" altLang="en-US" sz="2800" dirty="0"/>
              <a:t>・実際に株価のデータを使用し、株価予測を行う</a:t>
            </a:r>
            <a:r>
              <a:rPr kumimoji="1" lang="en-US" altLang="ja-JP" sz="2800" dirty="0"/>
              <a:t>AI</a:t>
            </a:r>
            <a:r>
              <a:rPr kumimoji="1" lang="ja-JP" altLang="en-US" sz="2800" dirty="0"/>
              <a:t>を作成し、評価を行う。</a:t>
            </a:r>
            <a:endParaRPr kumimoji="1" lang="en-US" altLang="ja-JP" sz="2800" dirty="0"/>
          </a:p>
        </p:txBody>
      </p:sp>
    </p:spTree>
    <p:extLst>
      <p:ext uri="{BB962C8B-B14F-4D97-AF65-F5344CB8AC3E}">
        <p14:creationId xmlns:p14="http://schemas.microsoft.com/office/powerpoint/2010/main" val="462560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447DE5-998A-5638-DB0B-03C3FC03A21E}"/>
              </a:ext>
            </a:extLst>
          </p:cNvPr>
          <p:cNvSpPr>
            <a:spLocks noGrp="1"/>
          </p:cNvSpPr>
          <p:nvPr>
            <p:ph type="title"/>
          </p:nvPr>
        </p:nvSpPr>
        <p:spPr>
          <a:xfrm>
            <a:off x="0" y="293802"/>
            <a:ext cx="9784080" cy="1508760"/>
          </a:xfrm>
        </p:spPr>
        <p:txBody>
          <a:bodyPr/>
          <a:lstStyle/>
          <a:p>
            <a:r>
              <a:rPr kumimoji="1" lang="ja-JP" altLang="en-US" dirty="0"/>
              <a:t>データの概要：使用データとその前処理</a:t>
            </a:r>
          </a:p>
        </p:txBody>
      </p:sp>
      <p:sp>
        <p:nvSpPr>
          <p:cNvPr id="4" name="テキスト ボックス 3">
            <a:extLst>
              <a:ext uri="{FF2B5EF4-FFF2-40B4-BE49-F238E27FC236}">
                <a16:creationId xmlns:a16="http://schemas.microsoft.com/office/drawing/2014/main" id="{9711867A-9C17-93B2-132F-596A3C6216CB}"/>
              </a:ext>
            </a:extLst>
          </p:cNvPr>
          <p:cNvSpPr txBox="1"/>
          <p:nvPr/>
        </p:nvSpPr>
        <p:spPr>
          <a:xfrm>
            <a:off x="67377" y="1802562"/>
            <a:ext cx="10924674" cy="4062651"/>
          </a:xfrm>
          <a:prstGeom prst="rect">
            <a:avLst/>
          </a:prstGeom>
          <a:noFill/>
        </p:spPr>
        <p:txBody>
          <a:bodyPr wrap="square" rtlCol="0">
            <a:spAutoFit/>
          </a:bodyPr>
          <a:lstStyle/>
          <a:p>
            <a:r>
              <a:rPr kumimoji="1" lang="ja-JP" altLang="en-US" sz="2400" dirty="0">
                <a:latin typeface="+mn-ea"/>
              </a:rPr>
              <a:t>＜データの概要＞</a:t>
            </a:r>
            <a:endParaRPr kumimoji="1" lang="en-US" altLang="ja-JP" sz="2400" dirty="0">
              <a:latin typeface="+mn-ea"/>
            </a:endParaRPr>
          </a:p>
          <a:p>
            <a:r>
              <a:rPr kumimoji="1" lang="ja-JP" altLang="en-US" sz="2400" dirty="0">
                <a:latin typeface="+mn-ea"/>
              </a:rPr>
              <a:t>今回使用するデータは</a:t>
            </a:r>
            <a:r>
              <a:rPr kumimoji="1" lang="en-US" altLang="ja-JP" sz="2400" dirty="0">
                <a:latin typeface="+mn-ea"/>
              </a:rPr>
              <a:t>1987</a:t>
            </a:r>
            <a:r>
              <a:rPr kumimoji="1" lang="ja-JP" altLang="en-US" sz="2400" dirty="0">
                <a:latin typeface="+mn-ea"/>
              </a:rPr>
              <a:t>年</a:t>
            </a:r>
            <a:r>
              <a:rPr kumimoji="1" lang="en-US" altLang="ja-JP" sz="2400" dirty="0">
                <a:latin typeface="+mn-ea"/>
              </a:rPr>
              <a:t>2</a:t>
            </a:r>
            <a:r>
              <a:rPr kumimoji="1" lang="ja-JP" altLang="en-US" sz="2400" dirty="0">
                <a:latin typeface="+mn-ea"/>
              </a:rPr>
              <a:t>月</a:t>
            </a:r>
            <a:r>
              <a:rPr kumimoji="1" lang="en-US" altLang="ja-JP" sz="2400" dirty="0">
                <a:latin typeface="+mn-ea"/>
              </a:rPr>
              <a:t>12</a:t>
            </a:r>
            <a:r>
              <a:rPr kumimoji="1" lang="ja-JP" altLang="en-US" sz="2400" dirty="0">
                <a:latin typeface="+mn-ea"/>
              </a:rPr>
              <a:t>日から</a:t>
            </a:r>
            <a:r>
              <a:rPr kumimoji="1" lang="en-US" altLang="ja-JP" sz="2400" dirty="0">
                <a:latin typeface="+mn-ea"/>
              </a:rPr>
              <a:t>2024</a:t>
            </a:r>
            <a:r>
              <a:rPr kumimoji="1" lang="ja-JP" altLang="en-US" sz="2400" dirty="0">
                <a:latin typeface="+mn-ea"/>
              </a:rPr>
              <a:t>年</a:t>
            </a:r>
            <a:r>
              <a:rPr kumimoji="1" lang="en-US" altLang="ja-JP" sz="2400" dirty="0">
                <a:latin typeface="+mn-ea"/>
              </a:rPr>
              <a:t>8</a:t>
            </a:r>
            <a:r>
              <a:rPr kumimoji="1" lang="ja-JP" altLang="en-US" sz="2400" dirty="0">
                <a:latin typeface="+mn-ea"/>
              </a:rPr>
              <a:t>月</a:t>
            </a:r>
            <a:r>
              <a:rPr kumimoji="1" lang="en-US" altLang="ja-JP" sz="2400" dirty="0">
                <a:latin typeface="+mn-ea"/>
              </a:rPr>
              <a:t>1</a:t>
            </a:r>
            <a:r>
              <a:rPr kumimoji="1" lang="ja-JP" altLang="en-US" sz="2400" dirty="0">
                <a:latin typeface="+mn-ea"/>
              </a:rPr>
              <a:t>日までを使用している。</a:t>
            </a:r>
            <a:endParaRPr kumimoji="1" lang="en-US" altLang="ja-JP" sz="2400" dirty="0">
              <a:latin typeface="+mn-ea"/>
            </a:endParaRPr>
          </a:p>
          <a:p>
            <a:r>
              <a:rPr kumimoji="1" lang="ja-JP" altLang="en-US" sz="2400" dirty="0">
                <a:latin typeface="+mn-ea"/>
              </a:rPr>
              <a:t>データの内容は表の通り７つの列がある。</a:t>
            </a:r>
            <a:endParaRPr kumimoji="1" lang="en-US" altLang="ja-JP" sz="2400" dirty="0">
              <a:latin typeface="+mn-ea"/>
            </a:endParaRPr>
          </a:p>
          <a:p>
            <a:r>
              <a:rPr kumimoji="1" lang="en-US" altLang="ja-JP" sz="2400" dirty="0">
                <a:latin typeface="+mn-ea"/>
              </a:rPr>
              <a:t>EDA</a:t>
            </a:r>
            <a:r>
              <a:rPr kumimoji="1" lang="ja-JP" altLang="en-US" sz="2400" dirty="0">
                <a:latin typeface="+mn-ea"/>
              </a:rPr>
              <a:t>の結果、上下の振れ幅が広く、出来高は年代により大きく変化している。</a:t>
            </a:r>
            <a:endParaRPr kumimoji="1" lang="en-US" altLang="ja-JP" sz="2400" dirty="0">
              <a:latin typeface="+mn-ea"/>
            </a:endParaRPr>
          </a:p>
          <a:p>
            <a:endParaRPr kumimoji="1" lang="en-US" altLang="ja-JP" sz="2400" dirty="0">
              <a:latin typeface="+mn-ea"/>
            </a:endParaRPr>
          </a:p>
          <a:p>
            <a:r>
              <a:rPr kumimoji="1" lang="ja-JP" altLang="en-US" sz="2400" dirty="0">
                <a:latin typeface="+mn-ea"/>
              </a:rPr>
              <a:t>＜課題＞</a:t>
            </a:r>
            <a:endParaRPr kumimoji="1" lang="en-US" altLang="ja-JP" sz="2400" dirty="0">
              <a:latin typeface="+mn-ea"/>
            </a:endParaRPr>
          </a:p>
          <a:p>
            <a:r>
              <a:rPr kumimoji="1" lang="ja-JP" altLang="en-US" sz="2400" dirty="0">
                <a:latin typeface="+mn-ea"/>
              </a:rPr>
              <a:t>・モデルの急騰・急落が激しく予測が難しい。</a:t>
            </a:r>
            <a:endParaRPr kumimoji="1" lang="en-US" altLang="ja-JP" sz="2400" dirty="0">
              <a:latin typeface="+mn-ea"/>
            </a:endParaRPr>
          </a:p>
          <a:p>
            <a:r>
              <a:rPr kumimoji="1" lang="ja-JP" altLang="en-US" sz="2400" dirty="0">
                <a:latin typeface="+mn-ea"/>
              </a:rPr>
              <a:t>・株価の変動幅が小さく、株価の自己相関</a:t>
            </a:r>
            <a:endParaRPr kumimoji="1" lang="en-US" altLang="ja-JP" sz="2400" dirty="0">
              <a:latin typeface="+mn-ea"/>
            </a:endParaRPr>
          </a:p>
          <a:p>
            <a:r>
              <a:rPr kumimoji="1" lang="ja-JP" altLang="en-US" sz="2400" dirty="0">
                <a:latin typeface="+mn-ea"/>
              </a:rPr>
              <a:t>がとても強い。</a:t>
            </a:r>
            <a:endParaRPr kumimoji="1" lang="en-US" altLang="ja-JP" sz="2400" dirty="0">
              <a:latin typeface="+mn-ea"/>
            </a:endParaRPr>
          </a:p>
          <a:p>
            <a:r>
              <a:rPr kumimoji="1" lang="ja-JP" altLang="en-US" sz="2400" dirty="0">
                <a:latin typeface="+mn-ea"/>
              </a:rPr>
              <a:t>・時代によって市場の明確な差が見られる。</a:t>
            </a:r>
            <a:endParaRPr kumimoji="1" lang="en-US" altLang="ja-JP" sz="2400" dirty="0">
              <a:latin typeface="+mn-ea"/>
            </a:endParaRPr>
          </a:p>
          <a:p>
            <a:endParaRPr kumimoji="1" lang="ja-JP" altLang="en-US" dirty="0">
              <a:latin typeface="+mn-ea"/>
            </a:endParaRPr>
          </a:p>
        </p:txBody>
      </p:sp>
      <p:pic>
        <p:nvPicPr>
          <p:cNvPr id="5" name="図 4">
            <a:extLst>
              <a:ext uri="{FF2B5EF4-FFF2-40B4-BE49-F238E27FC236}">
                <a16:creationId xmlns:a16="http://schemas.microsoft.com/office/drawing/2014/main" id="{D3D5E764-F910-7889-C82C-B4D31A757AED}"/>
              </a:ext>
            </a:extLst>
          </p:cNvPr>
          <p:cNvPicPr>
            <a:picLocks noChangeAspect="1"/>
          </p:cNvPicPr>
          <p:nvPr/>
        </p:nvPicPr>
        <p:blipFill>
          <a:blip r:embed="rId2"/>
          <a:stretch>
            <a:fillRect/>
          </a:stretch>
        </p:blipFill>
        <p:spPr>
          <a:xfrm>
            <a:off x="6544033" y="4334594"/>
            <a:ext cx="5580590" cy="24387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テキスト ボックス 5">
            <a:extLst>
              <a:ext uri="{FF2B5EF4-FFF2-40B4-BE49-F238E27FC236}">
                <a16:creationId xmlns:a16="http://schemas.microsoft.com/office/drawing/2014/main" id="{07B8C2F7-6264-DB17-6CE8-B75F42804D0C}"/>
              </a:ext>
            </a:extLst>
          </p:cNvPr>
          <p:cNvSpPr txBox="1"/>
          <p:nvPr/>
        </p:nvSpPr>
        <p:spPr>
          <a:xfrm>
            <a:off x="8422104" y="3840480"/>
            <a:ext cx="2271563" cy="369332"/>
          </a:xfrm>
          <a:prstGeom prst="rect">
            <a:avLst/>
          </a:prstGeom>
          <a:noFill/>
        </p:spPr>
        <p:txBody>
          <a:bodyPr wrap="square" rtlCol="0">
            <a:spAutoFit/>
          </a:bodyPr>
          <a:lstStyle/>
          <a:p>
            <a:r>
              <a:rPr kumimoji="1" lang="ja-JP" altLang="en-US" dirty="0"/>
              <a:t>表１　使用データ</a:t>
            </a:r>
          </a:p>
        </p:txBody>
      </p:sp>
    </p:spTree>
    <p:extLst>
      <p:ext uri="{BB962C8B-B14F-4D97-AF65-F5344CB8AC3E}">
        <p14:creationId xmlns:p14="http://schemas.microsoft.com/office/powerpoint/2010/main" val="161550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A9AD-A374-A7B9-2F6C-B121D03C5B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53CE5C-638D-E0CD-D3BA-0E97E21B92B1}"/>
              </a:ext>
            </a:extLst>
          </p:cNvPr>
          <p:cNvSpPr>
            <a:spLocks noGrp="1"/>
          </p:cNvSpPr>
          <p:nvPr>
            <p:ph type="title"/>
          </p:nvPr>
        </p:nvSpPr>
        <p:spPr>
          <a:xfrm>
            <a:off x="-1" y="293802"/>
            <a:ext cx="10568539" cy="1508760"/>
          </a:xfrm>
        </p:spPr>
        <p:txBody>
          <a:bodyPr/>
          <a:lstStyle/>
          <a:p>
            <a:r>
              <a:rPr kumimoji="1" lang="ja-JP" altLang="en-US" dirty="0"/>
              <a:t>モデルの概要：</a:t>
            </a:r>
            <a:r>
              <a:rPr lang="en-US" altLang="ja-JP" dirty="0" err="1"/>
              <a:t>LIghtGBM</a:t>
            </a:r>
            <a:r>
              <a:rPr lang="ja-JP" altLang="en-US" dirty="0"/>
              <a:t>と使用した特徴量</a:t>
            </a:r>
            <a:endParaRPr kumimoji="1" lang="ja-JP" altLang="en-US" dirty="0"/>
          </a:p>
        </p:txBody>
      </p:sp>
      <p:sp>
        <p:nvSpPr>
          <p:cNvPr id="4" name="テキスト ボックス 3">
            <a:extLst>
              <a:ext uri="{FF2B5EF4-FFF2-40B4-BE49-F238E27FC236}">
                <a16:creationId xmlns:a16="http://schemas.microsoft.com/office/drawing/2014/main" id="{D72D3C18-9144-2EAF-563A-E9DAE4ABF86C}"/>
              </a:ext>
            </a:extLst>
          </p:cNvPr>
          <p:cNvSpPr txBox="1"/>
          <p:nvPr/>
        </p:nvSpPr>
        <p:spPr>
          <a:xfrm>
            <a:off x="67377" y="1802562"/>
            <a:ext cx="11800572" cy="4893647"/>
          </a:xfrm>
          <a:prstGeom prst="rect">
            <a:avLst/>
          </a:prstGeom>
          <a:noFill/>
        </p:spPr>
        <p:txBody>
          <a:bodyPr wrap="square" rtlCol="0">
            <a:spAutoFit/>
          </a:bodyPr>
          <a:lstStyle/>
          <a:p>
            <a:r>
              <a:rPr kumimoji="1" lang="ja-JP" altLang="en-US" sz="2400" dirty="0">
                <a:latin typeface="+mn-ea"/>
              </a:rPr>
              <a:t>＜モデルの概要＞</a:t>
            </a:r>
            <a:endParaRPr kumimoji="1" lang="en-US" altLang="ja-JP" sz="2400" dirty="0">
              <a:latin typeface="+mn-ea"/>
            </a:endParaRPr>
          </a:p>
          <a:p>
            <a:r>
              <a:rPr kumimoji="1" lang="ja-JP" altLang="en-US" sz="2400" dirty="0">
                <a:latin typeface="+mn-ea"/>
              </a:rPr>
              <a:t>今回使用するモデルは、</a:t>
            </a:r>
            <a:r>
              <a:rPr kumimoji="1" lang="en-US" altLang="ja-JP" sz="2400" dirty="0" err="1">
                <a:latin typeface="+mn-ea"/>
              </a:rPr>
              <a:t>LightGBM</a:t>
            </a:r>
            <a:r>
              <a:rPr kumimoji="1" lang="ja-JP" altLang="en-US" sz="2400" dirty="0">
                <a:latin typeface="+mn-ea"/>
              </a:rPr>
              <a:t>を使用した。</a:t>
            </a:r>
            <a:endParaRPr kumimoji="1" lang="en-US" altLang="ja-JP" sz="2400" dirty="0">
              <a:latin typeface="+mn-ea"/>
            </a:endParaRPr>
          </a:p>
          <a:p>
            <a:r>
              <a:rPr kumimoji="1" lang="ja-JP" altLang="en-US" sz="2400" dirty="0">
                <a:latin typeface="+mn-ea"/>
              </a:rPr>
              <a:t>→学習が速く、特徴量エンジニアリングと相性が良いため、また、株価予測のような非線形データと相性がいいため使用した。</a:t>
            </a:r>
            <a:endParaRPr kumimoji="1" lang="en-US" altLang="ja-JP" sz="2400" dirty="0">
              <a:latin typeface="+mn-ea"/>
            </a:endParaRPr>
          </a:p>
          <a:p>
            <a:r>
              <a:rPr kumimoji="1" lang="ja-JP" altLang="en-US" sz="2400" dirty="0">
                <a:latin typeface="+mn-ea"/>
              </a:rPr>
              <a:t>＜使用した特徴量＞</a:t>
            </a:r>
            <a:endParaRPr kumimoji="1" lang="en-US" altLang="ja-JP" sz="2400" dirty="0">
              <a:latin typeface="+mn-ea"/>
            </a:endParaRPr>
          </a:p>
          <a:p>
            <a:r>
              <a:rPr kumimoji="1" lang="ja-JP" altLang="en-US" sz="2400" dirty="0">
                <a:latin typeface="+mn-ea"/>
              </a:rPr>
              <a:t>・</a:t>
            </a:r>
            <a:r>
              <a:rPr kumimoji="1" lang="en-US" altLang="ja-JP" sz="2400" dirty="0">
                <a:latin typeface="+mn-ea"/>
              </a:rPr>
              <a:t>MA5</a:t>
            </a:r>
            <a:r>
              <a:rPr kumimoji="1" lang="ja-JP" altLang="en-US" sz="2400" dirty="0">
                <a:latin typeface="+mn-ea"/>
              </a:rPr>
              <a:t>、</a:t>
            </a:r>
            <a:r>
              <a:rPr kumimoji="1" lang="en-US" altLang="ja-JP" sz="2400" dirty="0">
                <a:latin typeface="+mn-ea"/>
              </a:rPr>
              <a:t>MA25…</a:t>
            </a:r>
            <a:r>
              <a:rPr kumimoji="1" lang="ja-JP" altLang="en-US" sz="2400" dirty="0">
                <a:latin typeface="+mn-ea"/>
              </a:rPr>
              <a:t>長期間のレンジ相場が多いためトレンド判定として機能する。</a:t>
            </a:r>
            <a:endParaRPr kumimoji="1" lang="en-US" altLang="ja-JP" sz="2400" dirty="0">
              <a:latin typeface="+mn-ea"/>
            </a:endParaRPr>
          </a:p>
          <a:p>
            <a:r>
              <a:rPr kumimoji="1" lang="ja-JP" altLang="en-US" sz="2400" dirty="0">
                <a:latin typeface="+mn-ea"/>
              </a:rPr>
              <a:t>・</a:t>
            </a:r>
            <a:r>
              <a:rPr kumimoji="1" lang="en-US" altLang="ja-JP" sz="2400" dirty="0">
                <a:latin typeface="+mn-ea"/>
              </a:rPr>
              <a:t>RSI…</a:t>
            </a:r>
            <a:r>
              <a:rPr kumimoji="1" lang="ja-JP" altLang="en-US" sz="2400" dirty="0">
                <a:latin typeface="+mn-ea"/>
              </a:rPr>
              <a:t>株価の反転タイミングを推定しやすくなる。</a:t>
            </a:r>
            <a:endParaRPr kumimoji="1" lang="en-US" altLang="ja-JP" sz="2400" dirty="0">
              <a:latin typeface="+mn-ea"/>
            </a:endParaRPr>
          </a:p>
          <a:p>
            <a:r>
              <a:rPr kumimoji="1" lang="ja-JP" altLang="en-US" sz="2400" dirty="0">
                <a:latin typeface="+mn-ea"/>
              </a:rPr>
              <a:t>・</a:t>
            </a:r>
            <a:r>
              <a:rPr kumimoji="1" lang="en-US" altLang="ja-JP" sz="2400" dirty="0">
                <a:latin typeface="+mn-ea"/>
              </a:rPr>
              <a:t>MACD…</a:t>
            </a:r>
            <a:r>
              <a:rPr kumimoji="1" lang="ja-JP" altLang="en-US" sz="2400" dirty="0">
                <a:latin typeface="+mn-ea"/>
              </a:rPr>
              <a:t>上昇・下降トレンドの強さと方向を計測できるた。</a:t>
            </a:r>
            <a:endParaRPr kumimoji="1" lang="en-US" altLang="ja-JP" sz="2400" dirty="0">
              <a:latin typeface="+mn-ea"/>
            </a:endParaRPr>
          </a:p>
          <a:p>
            <a:r>
              <a:rPr kumimoji="1" lang="ja-JP" altLang="en-US" sz="2400" dirty="0">
                <a:latin typeface="+mn-ea"/>
              </a:rPr>
              <a:t>・ボリンジャーバンド</a:t>
            </a:r>
            <a:r>
              <a:rPr kumimoji="1" lang="en-US" altLang="ja-JP" sz="2400" dirty="0">
                <a:latin typeface="+mn-ea"/>
              </a:rPr>
              <a:t>…</a:t>
            </a:r>
            <a:r>
              <a:rPr kumimoji="1" lang="ja-JP" altLang="en-US" sz="2400" dirty="0">
                <a:latin typeface="+mn-ea"/>
              </a:rPr>
              <a:t>価格の広がりを表すため、急に動くタイミングを示唆する。</a:t>
            </a:r>
            <a:endParaRPr kumimoji="1" lang="en-US" altLang="ja-JP" sz="2400" dirty="0">
              <a:latin typeface="+mn-ea"/>
            </a:endParaRPr>
          </a:p>
          <a:p>
            <a:r>
              <a:rPr kumimoji="1" lang="ja-JP" altLang="en-US" sz="2400" dirty="0">
                <a:latin typeface="+mn-ea"/>
              </a:rPr>
              <a:t>・</a:t>
            </a:r>
            <a:r>
              <a:rPr kumimoji="1" lang="en-US" altLang="ja-JP" sz="2400" dirty="0">
                <a:latin typeface="+mn-ea"/>
              </a:rPr>
              <a:t>Volume…</a:t>
            </a:r>
            <a:r>
              <a:rPr kumimoji="1" lang="ja-JP" altLang="en-US" sz="2400" dirty="0">
                <a:latin typeface="+mn-ea"/>
              </a:rPr>
              <a:t>売買の強さを表し、急騰・急落の前に反応できる。</a:t>
            </a:r>
            <a:endParaRPr kumimoji="1" lang="en-US" altLang="ja-JP" sz="2400" dirty="0">
              <a:latin typeface="+mn-ea"/>
            </a:endParaRPr>
          </a:p>
          <a:p>
            <a:r>
              <a:rPr kumimoji="1" lang="ja-JP" altLang="en-US" sz="2400" dirty="0">
                <a:latin typeface="+mn-ea"/>
              </a:rPr>
              <a:t>・</a:t>
            </a:r>
            <a:r>
              <a:rPr kumimoji="1" lang="en-US" altLang="ja-JP" sz="2400" dirty="0">
                <a:latin typeface="+mn-ea"/>
              </a:rPr>
              <a:t>OBV…</a:t>
            </a:r>
            <a:r>
              <a:rPr kumimoji="1" lang="ja-JP" altLang="en-US" sz="2400" dirty="0">
                <a:latin typeface="+mn-ea"/>
              </a:rPr>
              <a:t>出来高の流入出を累積している、早くトレンド転換を示唆することもある。</a:t>
            </a:r>
            <a:endParaRPr kumimoji="1" lang="en-US" altLang="ja-JP" sz="2400" dirty="0">
              <a:latin typeface="+mn-ea"/>
            </a:endParaRPr>
          </a:p>
          <a:p>
            <a:r>
              <a:rPr kumimoji="1" lang="ja-JP" altLang="en-US" sz="2400" dirty="0">
                <a:latin typeface="+mn-ea"/>
              </a:rPr>
              <a:t>・</a:t>
            </a:r>
            <a:r>
              <a:rPr kumimoji="1" lang="en-US" altLang="ja-JP" sz="2400" dirty="0">
                <a:latin typeface="+mn-ea"/>
              </a:rPr>
              <a:t>Lag</a:t>
            </a:r>
            <a:r>
              <a:rPr kumimoji="1" lang="ja-JP" altLang="en-US" sz="2400" dirty="0">
                <a:latin typeface="+mn-ea"/>
              </a:rPr>
              <a:t>（追加）</a:t>
            </a:r>
            <a:r>
              <a:rPr kumimoji="1" lang="en-US" altLang="ja-JP" sz="2400" dirty="0">
                <a:latin typeface="+mn-ea"/>
              </a:rPr>
              <a:t>…</a:t>
            </a:r>
            <a:r>
              <a:rPr kumimoji="1" lang="ja-JP" altLang="en-US" sz="2400" dirty="0">
                <a:latin typeface="+mn-ea"/>
              </a:rPr>
              <a:t>自己相関が強いため、未来の方向性を予測できる。</a:t>
            </a:r>
            <a:endParaRPr kumimoji="1" lang="en-US" altLang="ja-JP" sz="2400" dirty="0">
              <a:latin typeface="+mn-ea"/>
            </a:endParaRPr>
          </a:p>
          <a:p>
            <a:r>
              <a:rPr kumimoji="1" lang="ja-JP" altLang="en-US" sz="2400" dirty="0">
                <a:latin typeface="+mn-ea"/>
              </a:rPr>
              <a:t>・</a:t>
            </a:r>
            <a:r>
              <a:rPr kumimoji="1" lang="en-US" altLang="ja-JP" sz="2400" dirty="0">
                <a:latin typeface="+mn-ea"/>
              </a:rPr>
              <a:t>Log	Return</a:t>
            </a:r>
            <a:r>
              <a:rPr kumimoji="1" lang="ja-JP" altLang="en-US" sz="2400" dirty="0">
                <a:latin typeface="+mn-ea"/>
              </a:rPr>
              <a:t>（追加）</a:t>
            </a:r>
            <a:r>
              <a:rPr kumimoji="1" lang="en-US" altLang="ja-JP" sz="2400" dirty="0">
                <a:latin typeface="+mn-ea"/>
              </a:rPr>
              <a:t>…</a:t>
            </a:r>
            <a:r>
              <a:rPr kumimoji="1" lang="ja-JP" altLang="en-US" sz="2400" dirty="0">
                <a:latin typeface="+mn-ea"/>
              </a:rPr>
              <a:t>急騰・急落を捉えやすい。</a:t>
            </a:r>
          </a:p>
        </p:txBody>
      </p:sp>
    </p:spTree>
    <p:extLst>
      <p:ext uri="{BB962C8B-B14F-4D97-AF65-F5344CB8AC3E}">
        <p14:creationId xmlns:p14="http://schemas.microsoft.com/office/powerpoint/2010/main" val="23114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FC7A3A-0CF6-A478-F1DE-45C7F04755AA}"/>
              </a:ext>
            </a:extLst>
          </p:cNvPr>
          <p:cNvSpPr>
            <a:spLocks noGrp="1"/>
          </p:cNvSpPr>
          <p:nvPr>
            <p:ph type="title"/>
          </p:nvPr>
        </p:nvSpPr>
        <p:spPr>
          <a:xfrm>
            <a:off x="0" y="255300"/>
            <a:ext cx="9784080" cy="1508760"/>
          </a:xfrm>
        </p:spPr>
        <p:txBody>
          <a:bodyPr/>
          <a:lstStyle/>
          <a:p>
            <a:r>
              <a:rPr kumimoji="1" lang="ja-JP" altLang="en-US" dirty="0"/>
              <a:t>評価指数：</a:t>
            </a:r>
            <a:r>
              <a:rPr kumimoji="1" lang="en-US" altLang="ja-JP" dirty="0"/>
              <a:t>R²</a:t>
            </a:r>
            <a:r>
              <a:rPr kumimoji="1" lang="ja-JP" altLang="en-US" dirty="0"/>
              <a:t>を使った評価とその結果</a:t>
            </a:r>
          </a:p>
        </p:txBody>
      </p:sp>
      <p:sp>
        <p:nvSpPr>
          <p:cNvPr id="4" name="テキスト ボックス 3">
            <a:extLst>
              <a:ext uri="{FF2B5EF4-FFF2-40B4-BE49-F238E27FC236}">
                <a16:creationId xmlns:a16="http://schemas.microsoft.com/office/drawing/2014/main" id="{50D02AA5-07E7-4752-68EF-E4021B86BFD4}"/>
              </a:ext>
            </a:extLst>
          </p:cNvPr>
          <p:cNvSpPr txBox="1"/>
          <p:nvPr/>
        </p:nvSpPr>
        <p:spPr>
          <a:xfrm>
            <a:off x="67377" y="1802562"/>
            <a:ext cx="10924674" cy="5262979"/>
          </a:xfrm>
          <a:prstGeom prst="rect">
            <a:avLst/>
          </a:prstGeom>
          <a:noFill/>
        </p:spPr>
        <p:txBody>
          <a:bodyPr wrap="square" rtlCol="0">
            <a:spAutoFit/>
          </a:bodyPr>
          <a:lstStyle/>
          <a:p>
            <a:r>
              <a:rPr kumimoji="1" lang="ja-JP" altLang="en-US" sz="2400" dirty="0">
                <a:latin typeface="+mn-ea"/>
              </a:rPr>
              <a:t>＜評価指数＞</a:t>
            </a:r>
            <a:endParaRPr kumimoji="1" lang="en-US" altLang="ja-JP" sz="2400" dirty="0">
              <a:latin typeface="+mn-ea"/>
            </a:endParaRPr>
          </a:p>
          <a:p>
            <a:r>
              <a:rPr kumimoji="1" lang="en-US" altLang="ja-JP" sz="2400" dirty="0">
                <a:latin typeface="+mn-ea"/>
              </a:rPr>
              <a:t>R²</a:t>
            </a:r>
            <a:r>
              <a:rPr kumimoji="1" lang="ja-JP" altLang="en-US" sz="2400" dirty="0">
                <a:latin typeface="+mn-ea"/>
              </a:rPr>
              <a:t>を使用した。→未来の変動をどれだけ説明できたのかを明確にでき、</a:t>
            </a:r>
            <a:endParaRPr kumimoji="1" lang="en-US" altLang="ja-JP" sz="2400" dirty="0">
              <a:latin typeface="+mn-ea"/>
            </a:endParaRPr>
          </a:p>
          <a:p>
            <a:r>
              <a:rPr kumimoji="1" lang="ja-JP" altLang="en-US" sz="2400" dirty="0">
                <a:latin typeface="+mn-ea"/>
              </a:rPr>
              <a:t>改善策との比較が容易であるため使用した。</a:t>
            </a:r>
            <a:endParaRPr kumimoji="1" lang="en-US" altLang="ja-JP" sz="2400" dirty="0">
              <a:latin typeface="+mn-ea"/>
            </a:endParaRPr>
          </a:p>
          <a:p>
            <a:endParaRPr kumimoji="1" lang="en-US" altLang="ja-JP" sz="2400" dirty="0">
              <a:latin typeface="+mn-ea"/>
            </a:endParaRPr>
          </a:p>
          <a:p>
            <a:r>
              <a:rPr kumimoji="1" lang="ja-JP" altLang="en-US" sz="2400" dirty="0">
                <a:latin typeface="+mn-ea"/>
              </a:rPr>
              <a:t>＜評価結果＞</a:t>
            </a:r>
            <a:endParaRPr kumimoji="1" lang="en-US" altLang="ja-JP" sz="2400" dirty="0">
              <a:latin typeface="+mn-ea"/>
            </a:endParaRPr>
          </a:p>
          <a:p>
            <a:r>
              <a:rPr kumimoji="1" lang="ja-JP" altLang="en-US" sz="2400" dirty="0">
                <a:latin typeface="+mn-ea"/>
              </a:rPr>
              <a:t>・一回目</a:t>
            </a:r>
            <a:endParaRPr kumimoji="1" lang="en-US" altLang="ja-JP" sz="2400" dirty="0">
              <a:latin typeface="+mn-ea"/>
            </a:endParaRPr>
          </a:p>
          <a:p>
            <a:r>
              <a:rPr kumimoji="1" lang="en-US" altLang="ja-JP" sz="2400" dirty="0">
                <a:latin typeface="+mn-ea"/>
              </a:rPr>
              <a:t>	Model</a:t>
            </a:r>
            <a:r>
              <a:rPr kumimoji="1" lang="ja-JP" altLang="en-US" sz="2400" dirty="0">
                <a:latin typeface="+mn-ea"/>
              </a:rPr>
              <a:t>　</a:t>
            </a:r>
            <a:r>
              <a:rPr kumimoji="1" lang="en-US" altLang="ja-JP" sz="2400" dirty="0">
                <a:latin typeface="+mn-ea"/>
              </a:rPr>
              <a:t>R2</a:t>
            </a:r>
            <a:r>
              <a:rPr kumimoji="1" lang="ja-JP" altLang="en-US" sz="2400" dirty="0">
                <a:latin typeface="+mn-ea"/>
              </a:rPr>
              <a:t>：</a:t>
            </a:r>
            <a:r>
              <a:rPr kumimoji="1" lang="en-US" altLang="ja-JP" sz="2400" dirty="0">
                <a:latin typeface="+mn-ea"/>
              </a:rPr>
              <a:t>0.771…  Naive R2</a:t>
            </a:r>
            <a:r>
              <a:rPr kumimoji="1" lang="ja-JP" altLang="en-US" sz="2400" dirty="0">
                <a:latin typeface="+mn-ea"/>
              </a:rPr>
              <a:t>：</a:t>
            </a:r>
            <a:r>
              <a:rPr kumimoji="1" lang="en-US" altLang="ja-JP" sz="2400" dirty="0">
                <a:latin typeface="+mn-ea"/>
              </a:rPr>
              <a:t>0.998…</a:t>
            </a:r>
          </a:p>
          <a:p>
            <a:r>
              <a:rPr kumimoji="1" lang="ja-JP" altLang="en-US" sz="2400" dirty="0">
                <a:latin typeface="+mn-ea"/>
              </a:rPr>
              <a:t>・改善策１　</a:t>
            </a:r>
            <a:endParaRPr kumimoji="1" lang="en-US" altLang="ja-JP" sz="2400" dirty="0">
              <a:latin typeface="+mn-ea"/>
            </a:endParaRPr>
          </a:p>
          <a:p>
            <a:r>
              <a:rPr kumimoji="1" lang="en-US" altLang="ja-JP" sz="2400" dirty="0">
                <a:latin typeface="+mn-ea"/>
              </a:rPr>
              <a:t>	Model</a:t>
            </a:r>
            <a:r>
              <a:rPr kumimoji="1" lang="ja-JP" altLang="en-US" sz="2400" dirty="0">
                <a:latin typeface="+mn-ea"/>
              </a:rPr>
              <a:t>　</a:t>
            </a:r>
            <a:r>
              <a:rPr kumimoji="1" lang="en-US" altLang="ja-JP" sz="2400" dirty="0">
                <a:latin typeface="+mn-ea"/>
              </a:rPr>
              <a:t>R2</a:t>
            </a:r>
            <a:r>
              <a:rPr kumimoji="1" lang="ja-JP" altLang="en-US" sz="2400" dirty="0">
                <a:latin typeface="+mn-ea"/>
              </a:rPr>
              <a:t>：</a:t>
            </a:r>
            <a:r>
              <a:rPr kumimoji="1" lang="en-US" altLang="ja-JP" sz="2400" dirty="0">
                <a:latin typeface="+mn-ea"/>
              </a:rPr>
              <a:t>0.803…  Naive R2</a:t>
            </a:r>
            <a:r>
              <a:rPr kumimoji="1" lang="ja-JP" altLang="en-US" sz="2400" dirty="0">
                <a:latin typeface="+mn-ea"/>
              </a:rPr>
              <a:t>：</a:t>
            </a:r>
            <a:r>
              <a:rPr kumimoji="1" lang="en-US" altLang="ja-JP" sz="2400" dirty="0">
                <a:latin typeface="+mn-ea"/>
              </a:rPr>
              <a:t>0.998…</a:t>
            </a:r>
          </a:p>
          <a:p>
            <a:r>
              <a:rPr kumimoji="1" lang="ja-JP" altLang="en-US" sz="2400" dirty="0">
                <a:latin typeface="+mn-ea"/>
              </a:rPr>
              <a:t>・改善策２</a:t>
            </a:r>
            <a:endParaRPr kumimoji="1" lang="en-US" altLang="ja-JP" sz="2400" dirty="0">
              <a:latin typeface="+mn-ea"/>
            </a:endParaRPr>
          </a:p>
          <a:p>
            <a:r>
              <a:rPr kumimoji="1" lang="en-US" altLang="ja-JP" sz="2400" dirty="0">
                <a:latin typeface="+mn-ea"/>
              </a:rPr>
              <a:t>	Model</a:t>
            </a:r>
            <a:r>
              <a:rPr kumimoji="1" lang="ja-JP" altLang="en-US" sz="2400" dirty="0">
                <a:latin typeface="+mn-ea"/>
              </a:rPr>
              <a:t>　</a:t>
            </a:r>
            <a:r>
              <a:rPr kumimoji="1" lang="en-US" altLang="ja-JP" sz="2400" dirty="0">
                <a:latin typeface="+mn-ea"/>
              </a:rPr>
              <a:t>R2</a:t>
            </a:r>
            <a:r>
              <a:rPr kumimoji="1" lang="ja-JP" altLang="en-US" sz="2400" dirty="0">
                <a:latin typeface="+mn-ea"/>
              </a:rPr>
              <a:t>：</a:t>
            </a:r>
            <a:r>
              <a:rPr kumimoji="1" lang="en-US" altLang="ja-JP" sz="2400" dirty="0">
                <a:latin typeface="+mn-ea"/>
              </a:rPr>
              <a:t>0.806…  Naive R2</a:t>
            </a:r>
            <a:r>
              <a:rPr kumimoji="1" lang="ja-JP" altLang="en-US" sz="2400" dirty="0">
                <a:latin typeface="+mn-ea"/>
              </a:rPr>
              <a:t>：</a:t>
            </a:r>
            <a:r>
              <a:rPr kumimoji="1" lang="en-US" altLang="ja-JP" sz="2400" dirty="0">
                <a:latin typeface="+mn-ea"/>
              </a:rPr>
              <a:t>0.998…</a:t>
            </a:r>
          </a:p>
          <a:p>
            <a:r>
              <a:rPr kumimoji="1" lang="ja-JP" altLang="en-US" sz="2400" dirty="0">
                <a:latin typeface="+mn-ea"/>
              </a:rPr>
              <a:t>　　　　　　　　　　　↓</a:t>
            </a:r>
            <a:endParaRPr kumimoji="1" lang="en-US" altLang="ja-JP" sz="2400" dirty="0">
              <a:latin typeface="+mn-ea"/>
            </a:endParaRPr>
          </a:p>
          <a:p>
            <a:r>
              <a:rPr kumimoji="1" lang="en-US" altLang="ja-JP" sz="2400" dirty="0">
                <a:latin typeface="+mn-ea"/>
              </a:rPr>
              <a:t>R²</a:t>
            </a:r>
            <a:r>
              <a:rPr kumimoji="1" lang="ja-JP" altLang="en-US" sz="2400" dirty="0">
                <a:latin typeface="+mn-ea"/>
              </a:rPr>
              <a:t>によると、どちらの改善策も有効であったことが分かる。</a:t>
            </a:r>
            <a:endParaRPr kumimoji="1" lang="en-US" altLang="ja-JP" sz="2400" dirty="0">
              <a:latin typeface="+mn-ea"/>
            </a:endParaRPr>
          </a:p>
          <a:p>
            <a:endParaRPr kumimoji="1" lang="ja-JP" altLang="en-US" sz="2400" dirty="0">
              <a:latin typeface="+mn-ea"/>
            </a:endParaRPr>
          </a:p>
        </p:txBody>
      </p:sp>
    </p:spTree>
    <p:extLst>
      <p:ext uri="{BB962C8B-B14F-4D97-AF65-F5344CB8AC3E}">
        <p14:creationId xmlns:p14="http://schemas.microsoft.com/office/powerpoint/2010/main" val="134606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880959-BB65-3341-F3D1-AA965FA780E6}"/>
              </a:ext>
            </a:extLst>
          </p:cNvPr>
          <p:cNvSpPr>
            <a:spLocks noGrp="1"/>
          </p:cNvSpPr>
          <p:nvPr>
            <p:ph type="title"/>
          </p:nvPr>
        </p:nvSpPr>
        <p:spPr>
          <a:xfrm>
            <a:off x="0" y="255300"/>
            <a:ext cx="9784080" cy="1508760"/>
          </a:xfrm>
        </p:spPr>
        <p:txBody>
          <a:bodyPr/>
          <a:lstStyle/>
          <a:p>
            <a:r>
              <a:rPr kumimoji="1" lang="ja-JP" altLang="en-US" dirty="0"/>
              <a:t>検証内容：モデルの学習結果</a:t>
            </a:r>
          </a:p>
        </p:txBody>
      </p:sp>
      <p:sp>
        <p:nvSpPr>
          <p:cNvPr id="4" name="テキスト ボックス 3">
            <a:extLst>
              <a:ext uri="{FF2B5EF4-FFF2-40B4-BE49-F238E27FC236}">
                <a16:creationId xmlns:a16="http://schemas.microsoft.com/office/drawing/2014/main" id="{9441EBEE-AE61-954B-2FAE-888B78D6F01F}"/>
              </a:ext>
            </a:extLst>
          </p:cNvPr>
          <p:cNvSpPr txBox="1"/>
          <p:nvPr/>
        </p:nvSpPr>
        <p:spPr>
          <a:xfrm>
            <a:off x="0" y="1915428"/>
            <a:ext cx="12192000" cy="4893647"/>
          </a:xfrm>
          <a:prstGeom prst="rect">
            <a:avLst/>
          </a:prstGeom>
          <a:noFill/>
        </p:spPr>
        <p:txBody>
          <a:bodyPr wrap="square" rtlCol="0">
            <a:spAutoFit/>
          </a:bodyPr>
          <a:lstStyle/>
          <a:p>
            <a:r>
              <a:rPr kumimoji="1" lang="ja-JP" altLang="en-US" sz="2400" dirty="0"/>
              <a:t>＜検証結果＞</a:t>
            </a:r>
            <a:endParaRPr kumimoji="1" lang="en-US" altLang="ja-JP" sz="2400" dirty="0"/>
          </a:p>
          <a:p>
            <a:r>
              <a:rPr kumimoji="1" lang="ja-JP" altLang="en-US" sz="2400" dirty="0"/>
              <a:t>これまでのモデル、特徴量を用いて学習した結果を図</a:t>
            </a:r>
            <a:r>
              <a:rPr kumimoji="1" lang="en-US" altLang="ja-JP" sz="2400" dirty="0">
                <a:latin typeface="+mn-ea"/>
              </a:rPr>
              <a:t>1</a:t>
            </a:r>
            <a:r>
              <a:rPr kumimoji="1" lang="ja-JP" altLang="en-US" sz="2400" dirty="0"/>
              <a:t>に示す。</a:t>
            </a:r>
            <a:endParaRPr kumimoji="1" lang="en-US" altLang="ja-JP" sz="2400" dirty="0"/>
          </a:p>
          <a:p>
            <a:r>
              <a:rPr kumimoji="1" lang="ja-JP" altLang="en-US" sz="2400" dirty="0"/>
              <a:t>この結果から、</a:t>
            </a:r>
            <a:r>
              <a:rPr kumimoji="1" lang="en-US" altLang="ja-JP" sz="2400" dirty="0">
                <a:latin typeface="+mn-ea"/>
              </a:rPr>
              <a:t>1988</a:t>
            </a:r>
            <a:r>
              <a:rPr kumimoji="1" lang="ja-JP" altLang="en-US" sz="2400" dirty="0">
                <a:latin typeface="+mn-ea"/>
              </a:rPr>
              <a:t>年程から以降はテストデータとほぼ一致しており、下降トレンドをしっかり学習できていることが分かる。</a:t>
            </a:r>
            <a:endParaRPr kumimoji="1" lang="en-US" altLang="ja-JP" sz="2400" dirty="0">
              <a:latin typeface="+mn-ea"/>
            </a:endParaRPr>
          </a:p>
          <a:p>
            <a:r>
              <a:rPr kumimoji="1" lang="ja-JP" altLang="en-US" sz="2400" dirty="0">
                <a:latin typeface="+mn-ea"/>
              </a:rPr>
              <a:t>しかし、</a:t>
            </a:r>
            <a:r>
              <a:rPr kumimoji="1" lang="en-US" altLang="ja-JP" sz="2400" dirty="0">
                <a:latin typeface="+mn-ea"/>
              </a:rPr>
              <a:t>1987</a:t>
            </a:r>
            <a:r>
              <a:rPr kumimoji="1" lang="ja-JP" altLang="en-US" sz="2400" dirty="0">
                <a:latin typeface="+mn-ea"/>
              </a:rPr>
              <a:t>年から</a:t>
            </a:r>
            <a:r>
              <a:rPr kumimoji="1" lang="en-US" altLang="ja-JP" sz="2400" dirty="0">
                <a:latin typeface="+mn-ea"/>
              </a:rPr>
              <a:t>1988</a:t>
            </a:r>
            <a:r>
              <a:rPr kumimoji="1" lang="ja-JP" altLang="en-US" sz="2400" dirty="0">
                <a:latin typeface="+mn-ea"/>
              </a:rPr>
              <a:t>年まで</a:t>
            </a:r>
            <a:endParaRPr kumimoji="1" lang="en-US" altLang="ja-JP" sz="2400" dirty="0">
              <a:latin typeface="+mn-ea"/>
            </a:endParaRPr>
          </a:p>
          <a:p>
            <a:r>
              <a:rPr kumimoji="1" lang="ja-JP" altLang="en-US" sz="2400" dirty="0">
                <a:latin typeface="+mn-ea"/>
              </a:rPr>
              <a:t>の急騰が再現できていない。</a:t>
            </a:r>
            <a:endParaRPr kumimoji="1" lang="en-US" altLang="ja-JP" sz="2400" dirty="0">
              <a:latin typeface="+mn-ea"/>
            </a:endParaRPr>
          </a:p>
          <a:p>
            <a:r>
              <a:rPr kumimoji="1" lang="ja-JP" altLang="en-US" sz="2400" dirty="0">
                <a:latin typeface="+mn-ea"/>
              </a:rPr>
              <a:t>＜仮説＞</a:t>
            </a:r>
            <a:endParaRPr kumimoji="1" lang="en-US" altLang="ja-JP" sz="2400" dirty="0">
              <a:latin typeface="+mn-ea"/>
            </a:endParaRPr>
          </a:p>
          <a:p>
            <a:r>
              <a:rPr kumimoji="1" lang="ja-JP" altLang="en-US" sz="2400" dirty="0">
                <a:latin typeface="+mn-ea"/>
              </a:rPr>
              <a:t>①結果から、急騰・急落を捉える</a:t>
            </a:r>
            <a:endParaRPr kumimoji="1" lang="en-US" altLang="ja-JP" sz="2400" dirty="0">
              <a:latin typeface="+mn-ea"/>
            </a:endParaRPr>
          </a:p>
          <a:p>
            <a:r>
              <a:rPr kumimoji="1" lang="ja-JP" altLang="en-US" sz="2400" dirty="0">
                <a:latin typeface="+mn-ea"/>
              </a:rPr>
              <a:t>特徴量を入れることで精度が</a:t>
            </a:r>
            <a:endParaRPr kumimoji="1" lang="en-US" altLang="ja-JP" sz="2400" dirty="0">
              <a:latin typeface="+mn-ea"/>
            </a:endParaRPr>
          </a:p>
          <a:p>
            <a:r>
              <a:rPr kumimoji="1" lang="ja-JP" altLang="en-US" sz="2400" dirty="0">
                <a:latin typeface="+mn-ea"/>
              </a:rPr>
              <a:t>上がる。</a:t>
            </a:r>
            <a:endParaRPr kumimoji="1" lang="en-US" altLang="ja-JP" sz="2400" dirty="0"/>
          </a:p>
          <a:p>
            <a:r>
              <a:rPr kumimoji="1" lang="ja-JP" altLang="en-US" sz="2400" dirty="0"/>
              <a:t>②過去を捉える特徴量を入れる</a:t>
            </a:r>
            <a:endParaRPr kumimoji="1" lang="en-US" altLang="ja-JP" sz="2400" dirty="0"/>
          </a:p>
          <a:p>
            <a:r>
              <a:rPr kumimoji="1" lang="ja-JP" altLang="en-US" sz="2400" dirty="0"/>
              <a:t>ことで、大きな変動を捉える</a:t>
            </a:r>
            <a:endParaRPr kumimoji="1" lang="en-US" altLang="ja-JP" sz="2400" dirty="0"/>
          </a:p>
          <a:p>
            <a:r>
              <a:rPr kumimoji="1" lang="ja-JP" altLang="en-US" sz="2400" dirty="0"/>
              <a:t>ようになる。</a:t>
            </a:r>
          </a:p>
        </p:txBody>
      </p:sp>
      <p:pic>
        <p:nvPicPr>
          <p:cNvPr id="6" name="図 5" descr="グラフ, 折れ線グラフ">
            <a:extLst>
              <a:ext uri="{FF2B5EF4-FFF2-40B4-BE49-F238E27FC236}">
                <a16:creationId xmlns:a16="http://schemas.microsoft.com/office/drawing/2014/main" id="{DF52AACA-BBE6-97A3-C3AB-D11F09CA5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413" y="3570972"/>
            <a:ext cx="7537587" cy="2827421"/>
          </a:xfrm>
          <a:prstGeom prst="rect">
            <a:avLst/>
          </a:prstGeom>
        </p:spPr>
      </p:pic>
      <p:sp>
        <p:nvSpPr>
          <p:cNvPr id="7" name="テキスト ボックス 6">
            <a:extLst>
              <a:ext uri="{FF2B5EF4-FFF2-40B4-BE49-F238E27FC236}">
                <a16:creationId xmlns:a16="http://schemas.microsoft.com/office/drawing/2014/main" id="{6AAD61A3-D51B-EE29-F09E-DB85B9C12A03}"/>
              </a:ext>
            </a:extLst>
          </p:cNvPr>
          <p:cNvSpPr txBox="1"/>
          <p:nvPr/>
        </p:nvSpPr>
        <p:spPr>
          <a:xfrm>
            <a:off x="6930190" y="6488668"/>
            <a:ext cx="3128211" cy="369332"/>
          </a:xfrm>
          <a:prstGeom prst="rect">
            <a:avLst/>
          </a:prstGeom>
          <a:noFill/>
        </p:spPr>
        <p:txBody>
          <a:bodyPr wrap="square" rtlCol="0">
            <a:spAutoFit/>
          </a:bodyPr>
          <a:lstStyle/>
          <a:p>
            <a:pPr algn="ctr"/>
            <a:r>
              <a:rPr kumimoji="1" lang="ja-JP" altLang="en-US" dirty="0"/>
              <a:t>図</a:t>
            </a:r>
            <a:r>
              <a:rPr kumimoji="1" lang="en-US" altLang="ja-JP" dirty="0">
                <a:latin typeface="+mj-ea"/>
                <a:ea typeface="+mj-ea"/>
              </a:rPr>
              <a:t>1</a:t>
            </a:r>
            <a:r>
              <a:rPr kumimoji="1" lang="ja-JP" altLang="en-US" dirty="0"/>
              <a:t>　学習モデルの予測結果</a:t>
            </a:r>
          </a:p>
        </p:txBody>
      </p:sp>
    </p:spTree>
    <p:extLst>
      <p:ext uri="{BB962C8B-B14F-4D97-AF65-F5344CB8AC3E}">
        <p14:creationId xmlns:p14="http://schemas.microsoft.com/office/powerpoint/2010/main" val="1393231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C2FBA1-E8B0-0EBA-2BBA-461CAE8C0210}"/>
              </a:ext>
            </a:extLst>
          </p:cNvPr>
          <p:cNvSpPr>
            <a:spLocks noGrp="1"/>
          </p:cNvSpPr>
          <p:nvPr>
            <p:ph type="title"/>
          </p:nvPr>
        </p:nvSpPr>
        <p:spPr>
          <a:xfrm>
            <a:off x="0" y="255301"/>
            <a:ext cx="11656194" cy="1508760"/>
          </a:xfrm>
        </p:spPr>
        <p:txBody>
          <a:bodyPr/>
          <a:lstStyle/>
          <a:p>
            <a:r>
              <a:rPr kumimoji="1" lang="ja-JP" altLang="en-US" dirty="0"/>
              <a:t>検証結果１：急騰・急落を捉える特徴量を入れる</a:t>
            </a:r>
          </a:p>
        </p:txBody>
      </p:sp>
      <p:sp>
        <p:nvSpPr>
          <p:cNvPr id="5" name="テキスト ボックス 4">
            <a:extLst>
              <a:ext uri="{FF2B5EF4-FFF2-40B4-BE49-F238E27FC236}">
                <a16:creationId xmlns:a16="http://schemas.microsoft.com/office/drawing/2014/main" id="{DD5F3CFA-4271-BFA7-F4FE-0CFDE67D857E}"/>
              </a:ext>
            </a:extLst>
          </p:cNvPr>
          <p:cNvSpPr txBox="1"/>
          <p:nvPr/>
        </p:nvSpPr>
        <p:spPr>
          <a:xfrm>
            <a:off x="0" y="1908440"/>
            <a:ext cx="11386687" cy="4893647"/>
          </a:xfrm>
          <a:prstGeom prst="rect">
            <a:avLst/>
          </a:prstGeom>
          <a:noFill/>
        </p:spPr>
        <p:txBody>
          <a:bodyPr wrap="square" rtlCol="0">
            <a:spAutoFit/>
          </a:bodyPr>
          <a:lstStyle/>
          <a:p>
            <a:r>
              <a:rPr kumimoji="1" lang="ja-JP" altLang="en-US" sz="2400" dirty="0"/>
              <a:t>＜特徴量＞</a:t>
            </a:r>
            <a:endParaRPr kumimoji="1" lang="en-US" altLang="ja-JP" sz="2400" dirty="0"/>
          </a:p>
          <a:p>
            <a:r>
              <a:rPr kumimoji="1" lang="en-US" altLang="ja-JP" sz="2400" dirty="0">
                <a:latin typeface="+mn-ea"/>
              </a:rPr>
              <a:t>Log</a:t>
            </a:r>
            <a:r>
              <a:rPr kumimoji="1" lang="ja-JP" altLang="en-US" sz="2400" dirty="0">
                <a:latin typeface="+mn-ea"/>
              </a:rPr>
              <a:t>　</a:t>
            </a:r>
            <a:r>
              <a:rPr kumimoji="1" lang="en-US" altLang="ja-JP" sz="2400" dirty="0">
                <a:latin typeface="+mn-ea"/>
              </a:rPr>
              <a:t>Return</a:t>
            </a:r>
            <a:r>
              <a:rPr kumimoji="1" lang="ja-JP" altLang="en-US" sz="2400" dirty="0">
                <a:latin typeface="+mn-ea"/>
              </a:rPr>
              <a:t>の特徴量を入れることで、株価の急騰・急落を捉えることができる。</a:t>
            </a:r>
            <a:endParaRPr kumimoji="1" lang="en-US" altLang="ja-JP" sz="2400" dirty="0">
              <a:latin typeface="+mn-ea"/>
            </a:endParaRPr>
          </a:p>
          <a:p>
            <a:r>
              <a:rPr kumimoji="1" lang="ja-JP" altLang="en-US" sz="2400" dirty="0">
                <a:latin typeface="+mn-ea"/>
              </a:rPr>
              <a:t>＜結果＞</a:t>
            </a:r>
            <a:endParaRPr kumimoji="1" lang="en-US" altLang="ja-JP" sz="2400" dirty="0">
              <a:latin typeface="+mn-ea"/>
            </a:endParaRPr>
          </a:p>
          <a:p>
            <a:r>
              <a:rPr kumimoji="1" lang="ja-JP" altLang="en-US" sz="2400" dirty="0">
                <a:latin typeface="+mn-ea"/>
              </a:rPr>
              <a:t>評価結果：</a:t>
            </a:r>
            <a:r>
              <a:rPr kumimoji="1" lang="en-US" altLang="ja-JP" sz="2400" dirty="0">
                <a:latin typeface="+mn-ea"/>
              </a:rPr>
              <a:t>Model</a:t>
            </a:r>
            <a:r>
              <a:rPr kumimoji="1" lang="ja-JP" altLang="en-US" sz="2400" dirty="0">
                <a:latin typeface="+mn-ea"/>
              </a:rPr>
              <a:t>　</a:t>
            </a:r>
            <a:r>
              <a:rPr kumimoji="1" lang="en-US" altLang="ja-JP" sz="2400" dirty="0">
                <a:latin typeface="+mn-ea"/>
              </a:rPr>
              <a:t>R2</a:t>
            </a:r>
            <a:r>
              <a:rPr kumimoji="1" lang="ja-JP" altLang="en-US" sz="2400" dirty="0">
                <a:latin typeface="+mn-ea"/>
              </a:rPr>
              <a:t>：</a:t>
            </a:r>
            <a:r>
              <a:rPr kumimoji="1" lang="en-US" altLang="ja-JP" sz="2400" dirty="0">
                <a:latin typeface="+mn-ea"/>
              </a:rPr>
              <a:t>0.803…  Naive R2</a:t>
            </a:r>
            <a:r>
              <a:rPr kumimoji="1" lang="ja-JP" altLang="en-US" sz="2400" dirty="0">
                <a:latin typeface="+mn-ea"/>
              </a:rPr>
              <a:t>：</a:t>
            </a:r>
            <a:r>
              <a:rPr kumimoji="1" lang="en-US" altLang="ja-JP" sz="2400" dirty="0">
                <a:latin typeface="+mn-ea"/>
              </a:rPr>
              <a:t>0.998…</a:t>
            </a:r>
          </a:p>
          <a:p>
            <a:r>
              <a:rPr kumimoji="1" lang="ja-JP" altLang="en-US" sz="2400" dirty="0">
                <a:latin typeface="+mn-ea"/>
              </a:rPr>
              <a:t>検証結果を図</a:t>
            </a:r>
            <a:r>
              <a:rPr kumimoji="1" lang="en-US" altLang="ja-JP" sz="2400" dirty="0">
                <a:latin typeface="+mn-ea"/>
              </a:rPr>
              <a:t>2</a:t>
            </a:r>
            <a:r>
              <a:rPr kumimoji="1" lang="ja-JP" altLang="en-US" sz="2400" dirty="0">
                <a:latin typeface="+mn-ea"/>
              </a:rPr>
              <a:t>に示す。</a:t>
            </a:r>
            <a:endParaRPr kumimoji="1" lang="en-US" altLang="ja-JP" sz="2400" dirty="0">
              <a:latin typeface="+mn-ea"/>
            </a:endParaRPr>
          </a:p>
          <a:p>
            <a:r>
              <a:rPr kumimoji="1" lang="ja-JP" altLang="en-US" sz="2400" dirty="0"/>
              <a:t>図</a:t>
            </a:r>
            <a:r>
              <a:rPr kumimoji="1" lang="en-US" altLang="ja-JP" sz="2400" dirty="0">
                <a:latin typeface="+mn-ea"/>
              </a:rPr>
              <a:t>2</a:t>
            </a:r>
            <a:r>
              <a:rPr kumimoji="1" lang="ja-JP" altLang="en-US" sz="2400" dirty="0"/>
              <a:t>からみると急騰・急落を捉える</a:t>
            </a:r>
            <a:endParaRPr kumimoji="1" lang="en-US" altLang="ja-JP" sz="2400" dirty="0"/>
          </a:p>
          <a:p>
            <a:r>
              <a:rPr kumimoji="1" lang="ja-JP" altLang="en-US" sz="2400" dirty="0"/>
              <a:t>ことができず、再現できていない。</a:t>
            </a:r>
            <a:endParaRPr kumimoji="1" lang="en-US" altLang="ja-JP" sz="2400" dirty="0"/>
          </a:p>
          <a:p>
            <a:r>
              <a:rPr kumimoji="1" lang="ja-JP" altLang="en-US" sz="2400" dirty="0"/>
              <a:t>評価結果をみるとモデルは改善して</a:t>
            </a:r>
            <a:endParaRPr kumimoji="1" lang="en-US" altLang="ja-JP" sz="2400" dirty="0"/>
          </a:p>
          <a:p>
            <a:r>
              <a:rPr kumimoji="1" lang="ja-JP" altLang="en-US" sz="2400" dirty="0"/>
              <a:t>ることが分かる。</a:t>
            </a:r>
            <a:endParaRPr kumimoji="1" lang="en-US" altLang="ja-JP" sz="2400" dirty="0"/>
          </a:p>
          <a:p>
            <a:r>
              <a:rPr kumimoji="1" lang="ja-JP" altLang="en-US" sz="2400" dirty="0"/>
              <a:t>＜考察＞</a:t>
            </a:r>
            <a:endParaRPr kumimoji="1" lang="en-US" altLang="ja-JP" sz="2400" dirty="0"/>
          </a:p>
          <a:p>
            <a:r>
              <a:rPr kumimoji="1" lang="ja-JP" altLang="en-US" sz="2400" dirty="0"/>
              <a:t>急騰・急落を捉えるのは困難なため、</a:t>
            </a:r>
            <a:endParaRPr kumimoji="1" lang="en-US" altLang="ja-JP" sz="2400" dirty="0"/>
          </a:p>
          <a:p>
            <a:r>
              <a:rPr kumimoji="1" lang="ja-JP" altLang="en-US" sz="2400" dirty="0"/>
              <a:t>過去の値を捉える特徴量を入れる</a:t>
            </a:r>
            <a:endParaRPr kumimoji="1" lang="en-US" altLang="ja-JP" sz="2400" dirty="0"/>
          </a:p>
          <a:p>
            <a:r>
              <a:rPr kumimoji="1" lang="ja-JP" altLang="en-US" sz="2400" dirty="0"/>
              <a:t>ことが必要だと考えられる。</a:t>
            </a:r>
          </a:p>
        </p:txBody>
      </p:sp>
      <p:pic>
        <p:nvPicPr>
          <p:cNvPr id="7" name="図 6" descr="グラフ, 折れ線グラフ">
            <a:extLst>
              <a:ext uri="{FF2B5EF4-FFF2-40B4-BE49-F238E27FC236}">
                <a16:creationId xmlns:a16="http://schemas.microsoft.com/office/drawing/2014/main" id="{A7ABCEC3-5284-D49F-A9AE-1A6451275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7982" y="3518452"/>
            <a:ext cx="6864625" cy="2802835"/>
          </a:xfrm>
          <a:prstGeom prst="rect">
            <a:avLst/>
          </a:prstGeom>
        </p:spPr>
      </p:pic>
      <p:sp>
        <p:nvSpPr>
          <p:cNvPr id="8" name="テキスト ボックス 7">
            <a:extLst>
              <a:ext uri="{FF2B5EF4-FFF2-40B4-BE49-F238E27FC236}">
                <a16:creationId xmlns:a16="http://schemas.microsoft.com/office/drawing/2014/main" id="{30C67C12-FAD4-6141-89C8-8919F38ECAF6}"/>
              </a:ext>
            </a:extLst>
          </p:cNvPr>
          <p:cNvSpPr txBox="1"/>
          <p:nvPr/>
        </p:nvSpPr>
        <p:spPr>
          <a:xfrm>
            <a:off x="7079972" y="6418033"/>
            <a:ext cx="3160643" cy="369332"/>
          </a:xfrm>
          <a:prstGeom prst="rect">
            <a:avLst/>
          </a:prstGeom>
          <a:noFill/>
        </p:spPr>
        <p:txBody>
          <a:bodyPr wrap="square" rtlCol="0">
            <a:spAutoFit/>
          </a:bodyPr>
          <a:lstStyle/>
          <a:p>
            <a:r>
              <a:rPr kumimoji="1" lang="ja-JP" altLang="en-US" dirty="0"/>
              <a:t>図２　改善策１の株価推移</a:t>
            </a:r>
          </a:p>
        </p:txBody>
      </p:sp>
    </p:spTree>
    <p:extLst>
      <p:ext uri="{BB962C8B-B14F-4D97-AF65-F5344CB8AC3E}">
        <p14:creationId xmlns:p14="http://schemas.microsoft.com/office/powerpoint/2010/main" val="3460137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CD848-E418-FD13-5482-C4150FF6EA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D90E97-618F-7AB3-0B55-4F9401968C05}"/>
              </a:ext>
            </a:extLst>
          </p:cNvPr>
          <p:cNvSpPr>
            <a:spLocks noGrp="1"/>
          </p:cNvSpPr>
          <p:nvPr>
            <p:ph type="title"/>
          </p:nvPr>
        </p:nvSpPr>
        <p:spPr>
          <a:xfrm>
            <a:off x="0" y="255301"/>
            <a:ext cx="11656194" cy="1508760"/>
          </a:xfrm>
        </p:spPr>
        <p:txBody>
          <a:bodyPr/>
          <a:lstStyle/>
          <a:p>
            <a:r>
              <a:rPr kumimoji="1" lang="ja-JP" altLang="en-US" dirty="0"/>
              <a:t>検証結果２：過去を捉える特徴量を入れる</a:t>
            </a:r>
          </a:p>
        </p:txBody>
      </p:sp>
      <p:sp>
        <p:nvSpPr>
          <p:cNvPr id="3" name="テキスト ボックス 2">
            <a:extLst>
              <a:ext uri="{FF2B5EF4-FFF2-40B4-BE49-F238E27FC236}">
                <a16:creationId xmlns:a16="http://schemas.microsoft.com/office/drawing/2014/main" id="{4A5D91C0-411B-884B-1823-18B4B0227724}"/>
              </a:ext>
            </a:extLst>
          </p:cNvPr>
          <p:cNvSpPr txBox="1"/>
          <p:nvPr/>
        </p:nvSpPr>
        <p:spPr>
          <a:xfrm>
            <a:off x="0" y="1908440"/>
            <a:ext cx="11386687" cy="5262979"/>
          </a:xfrm>
          <a:prstGeom prst="rect">
            <a:avLst/>
          </a:prstGeom>
          <a:noFill/>
        </p:spPr>
        <p:txBody>
          <a:bodyPr wrap="square" rtlCol="0">
            <a:spAutoFit/>
          </a:bodyPr>
          <a:lstStyle/>
          <a:p>
            <a:r>
              <a:rPr kumimoji="1" lang="ja-JP" altLang="en-US" sz="2400" dirty="0"/>
              <a:t>＜特徴量＞</a:t>
            </a:r>
            <a:endParaRPr kumimoji="1" lang="en-US" altLang="ja-JP" sz="2400" dirty="0"/>
          </a:p>
          <a:p>
            <a:r>
              <a:rPr kumimoji="1" lang="en-US" altLang="ja-JP" sz="2400" dirty="0">
                <a:latin typeface="+mn-ea"/>
              </a:rPr>
              <a:t>Lag</a:t>
            </a:r>
            <a:r>
              <a:rPr kumimoji="1" lang="ja-JP" altLang="en-US" sz="2400" dirty="0">
                <a:latin typeface="+mn-ea"/>
              </a:rPr>
              <a:t>の特徴量を入れることで、過去の情報を捉えることができ再現できると考える。</a:t>
            </a:r>
            <a:endParaRPr kumimoji="1" lang="en-US" altLang="ja-JP" sz="2400" dirty="0">
              <a:latin typeface="+mn-ea"/>
            </a:endParaRPr>
          </a:p>
          <a:p>
            <a:r>
              <a:rPr kumimoji="1" lang="ja-JP" altLang="en-US" sz="2400" dirty="0">
                <a:latin typeface="+mn-ea"/>
              </a:rPr>
              <a:t>＜結果＞</a:t>
            </a:r>
            <a:endParaRPr kumimoji="1" lang="en-US" altLang="ja-JP" sz="2400" dirty="0">
              <a:latin typeface="+mn-ea"/>
            </a:endParaRPr>
          </a:p>
          <a:p>
            <a:r>
              <a:rPr kumimoji="1" lang="ja-JP" altLang="en-US" sz="2400" dirty="0">
                <a:latin typeface="+mn-ea"/>
              </a:rPr>
              <a:t>評価結果：</a:t>
            </a:r>
            <a:r>
              <a:rPr kumimoji="1" lang="en-US" altLang="ja-JP" sz="2400" dirty="0">
                <a:latin typeface="+mn-ea"/>
              </a:rPr>
              <a:t>Model</a:t>
            </a:r>
            <a:r>
              <a:rPr kumimoji="1" lang="ja-JP" altLang="en-US" sz="2400" dirty="0">
                <a:latin typeface="+mn-ea"/>
              </a:rPr>
              <a:t>　</a:t>
            </a:r>
            <a:r>
              <a:rPr kumimoji="1" lang="en-US" altLang="ja-JP" sz="2400" dirty="0">
                <a:latin typeface="+mn-ea"/>
              </a:rPr>
              <a:t>R2</a:t>
            </a:r>
            <a:r>
              <a:rPr kumimoji="1" lang="ja-JP" altLang="en-US" sz="2400" dirty="0">
                <a:latin typeface="+mn-ea"/>
              </a:rPr>
              <a:t>：</a:t>
            </a:r>
            <a:r>
              <a:rPr kumimoji="1" lang="en-US" altLang="ja-JP" sz="2400" dirty="0">
                <a:latin typeface="+mn-ea"/>
              </a:rPr>
              <a:t>0.806…  Naive R2</a:t>
            </a:r>
            <a:r>
              <a:rPr kumimoji="1" lang="ja-JP" altLang="en-US" sz="2400" dirty="0">
                <a:latin typeface="+mn-ea"/>
              </a:rPr>
              <a:t>：</a:t>
            </a:r>
            <a:r>
              <a:rPr kumimoji="1" lang="en-US" altLang="ja-JP" sz="2400" dirty="0">
                <a:latin typeface="+mn-ea"/>
              </a:rPr>
              <a:t>0.998…</a:t>
            </a:r>
          </a:p>
          <a:p>
            <a:r>
              <a:rPr kumimoji="1" lang="ja-JP" altLang="en-US" sz="2400" dirty="0">
                <a:latin typeface="+mn-ea"/>
              </a:rPr>
              <a:t>検証結果を図</a:t>
            </a:r>
            <a:r>
              <a:rPr kumimoji="1" lang="en-US" altLang="ja-JP" sz="2400" dirty="0">
                <a:latin typeface="+mn-ea"/>
              </a:rPr>
              <a:t>3</a:t>
            </a:r>
            <a:r>
              <a:rPr kumimoji="1" lang="ja-JP" altLang="en-US" sz="2400" dirty="0">
                <a:latin typeface="+mn-ea"/>
              </a:rPr>
              <a:t>に示す。</a:t>
            </a:r>
            <a:endParaRPr kumimoji="1" lang="en-US" altLang="ja-JP" sz="2400" dirty="0">
              <a:latin typeface="+mn-ea"/>
            </a:endParaRPr>
          </a:p>
          <a:p>
            <a:r>
              <a:rPr kumimoji="1" lang="ja-JP" altLang="en-US" sz="2400" dirty="0"/>
              <a:t>図</a:t>
            </a:r>
            <a:r>
              <a:rPr kumimoji="1" lang="en-US" altLang="ja-JP" sz="2400" dirty="0">
                <a:latin typeface="+mn-ea"/>
              </a:rPr>
              <a:t>3</a:t>
            </a:r>
            <a:r>
              <a:rPr kumimoji="1" lang="ja-JP" altLang="en-US" sz="2400" dirty="0"/>
              <a:t>からみると過去の情報を捉える</a:t>
            </a:r>
            <a:endParaRPr kumimoji="1" lang="en-US" altLang="ja-JP" sz="2400" dirty="0"/>
          </a:p>
          <a:p>
            <a:r>
              <a:rPr kumimoji="1" lang="ja-JP" altLang="en-US" sz="2400" dirty="0"/>
              <a:t>ことができず、再現できていない。</a:t>
            </a:r>
            <a:endParaRPr kumimoji="1" lang="en-US" altLang="ja-JP" sz="2400" dirty="0"/>
          </a:p>
          <a:p>
            <a:r>
              <a:rPr kumimoji="1" lang="ja-JP" altLang="en-US" sz="2400" dirty="0"/>
              <a:t>しかし、評価結果をみるとモデルは</a:t>
            </a:r>
            <a:endParaRPr kumimoji="1" lang="en-US" altLang="ja-JP" sz="2400" dirty="0"/>
          </a:p>
          <a:p>
            <a:r>
              <a:rPr kumimoji="1" lang="ja-JP" altLang="en-US" sz="2400" dirty="0"/>
              <a:t>少し改善してることが分かる。</a:t>
            </a:r>
            <a:endParaRPr kumimoji="1" lang="en-US" altLang="ja-JP" sz="2400" dirty="0"/>
          </a:p>
          <a:p>
            <a:r>
              <a:rPr kumimoji="1" lang="ja-JP" altLang="en-US" sz="2400" dirty="0"/>
              <a:t>＜考察＞</a:t>
            </a:r>
            <a:endParaRPr kumimoji="1" lang="en-US" altLang="ja-JP" sz="2400" dirty="0"/>
          </a:p>
          <a:p>
            <a:r>
              <a:rPr kumimoji="1" lang="ja-JP" altLang="en-US" sz="2400" dirty="0"/>
              <a:t>バブル崩壊などの外的情報を説明</a:t>
            </a:r>
            <a:endParaRPr kumimoji="1" lang="en-US" altLang="ja-JP" sz="2400" dirty="0"/>
          </a:p>
          <a:p>
            <a:r>
              <a:rPr kumimoji="1" lang="ja-JP" altLang="en-US" sz="2400" dirty="0"/>
              <a:t>できる情報が含むことで誤差が大きい</a:t>
            </a:r>
            <a:endParaRPr kumimoji="1" lang="en-US" altLang="ja-JP" sz="2400" dirty="0"/>
          </a:p>
          <a:p>
            <a:r>
              <a:rPr kumimoji="1" lang="ja-JP" altLang="en-US" sz="2400" dirty="0"/>
              <a:t>部分を再現できるのではないか。</a:t>
            </a:r>
            <a:endParaRPr kumimoji="1" lang="en-US" altLang="ja-JP" sz="2400" dirty="0"/>
          </a:p>
          <a:p>
            <a:endParaRPr kumimoji="1" lang="en-US" altLang="ja-JP" sz="2400" dirty="0"/>
          </a:p>
        </p:txBody>
      </p:sp>
      <p:pic>
        <p:nvPicPr>
          <p:cNvPr id="5" name="図 4" descr="グラフ, 折れ線グラフ">
            <a:extLst>
              <a:ext uri="{FF2B5EF4-FFF2-40B4-BE49-F238E27FC236}">
                <a16:creationId xmlns:a16="http://schemas.microsoft.com/office/drawing/2014/main" id="{AEAC0C8F-8C6A-D7A8-6ACE-D7B273798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937" y="3483763"/>
            <a:ext cx="6882063" cy="2789891"/>
          </a:xfrm>
          <a:prstGeom prst="rect">
            <a:avLst/>
          </a:prstGeom>
        </p:spPr>
      </p:pic>
      <p:sp>
        <p:nvSpPr>
          <p:cNvPr id="6" name="テキスト ボックス 5">
            <a:extLst>
              <a:ext uri="{FF2B5EF4-FFF2-40B4-BE49-F238E27FC236}">
                <a16:creationId xmlns:a16="http://schemas.microsoft.com/office/drawing/2014/main" id="{E2C42B53-1D75-3184-7C46-488981AFA891}"/>
              </a:ext>
            </a:extLst>
          </p:cNvPr>
          <p:cNvSpPr txBox="1"/>
          <p:nvPr/>
        </p:nvSpPr>
        <p:spPr>
          <a:xfrm>
            <a:off x="7079972" y="6418033"/>
            <a:ext cx="3160643" cy="369332"/>
          </a:xfrm>
          <a:prstGeom prst="rect">
            <a:avLst/>
          </a:prstGeom>
          <a:noFill/>
        </p:spPr>
        <p:txBody>
          <a:bodyPr wrap="square" rtlCol="0">
            <a:spAutoFit/>
          </a:bodyPr>
          <a:lstStyle/>
          <a:p>
            <a:r>
              <a:rPr kumimoji="1" lang="ja-JP" altLang="en-US" dirty="0"/>
              <a:t>図</a:t>
            </a:r>
            <a:r>
              <a:rPr kumimoji="1" lang="en-US" altLang="ja-JP" dirty="0">
                <a:latin typeface="+mn-ea"/>
              </a:rPr>
              <a:t>3</a:t>
            </a:r>
            <a:r>
              <a:rPr kumimoji="1" lang="ja-JP" altLang="en-US" dirty="0"/>
              <a:t>　改善策</a:t>
            </a:r>
            <a:r>
              <a:rPr kumimoji="1" lang="en-US" altLang="ja-JP" dirty="0"/>
              <a:t>2</a:t>
            </a:r>
            <a:r>
              <a:rPr kumimoji="1" lang="ja-JP" altLang="en-US" dirty="0"/>
              <a:t>の株価推移</a:t>
            </a:r>
          </a:p>
        </p:txBody>
      </p:sp>
    </p:spTree>
    <p:extLst>
      <p:ext uri="{BB962C8B-B14F-4D97-AF65-F5344CB8AC3E}">
        <p14:creationId xmlns:p14="http://schemas.microsoft.com/office/powerpoint/2010/main" val="332161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2027-7EA1-CC5A-4B86-F724E7FC18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ABE5DB-3B2B-E3D1-FBAF-34537DC36D60}"/>
              </a:ext>
            </a:extLst>
          </p:cNvPr>
          <p:cNvSpPr>
            <a:spLocks noGrp="1"/>
          </p:cNvSpPr>
          <p:nvPr>
            <p:ph type="title"/>
          </p:nvPr>
        </p:nvSpPr>
        <p:spPr>
          <a:xfrm>
            <a:off x="0" y="255301"/>
            <a:ext cx="11656194" cy="1508760"/>
          </a:xfrm>
        </p:spPr>
        <p:txBody>
          <a:bodyPr/>
          <a:lstStyle/>
          <a:p>
            <a:r>
              <a:rPr lang="ja-JP" altLang="en-US" dirty="0"/>
              <a:t>まとめ</a:t>
            </a:r>
            <a:r>
              <a:rPr kumimoji="1" lang="ja-JP" altLang="en-US" dirty="0"/>
              <a:t>：これまでの結果と今後の課題</a:t>
            </a:r>
          </a:p>
        </p:txBody>
      </p:sp>
      <p:sp>
        <p:nvSpPr>
          <p:cNvPr id="3" name="テキスト ボックス 2">
            <a:extLst>
              <a:ext uri="{FF2B5EF4-FFF2-40B4-BE49-F238E27FC236}">
                <a16:creationId xmlns:a16="http://schemas.microsoft.com/office/drawing/2014/main" id="{CEE72DB3-62D6-CB50-ABD2-06159673A0E2}"/>
              </a:ext>
            </a:extLst>
          </p:cNvPr>
          <p:cNvSpPr txBox="1"/>
          <p:nvPr/>
        </p:nvSpPr>
        <p:spPr>
          <a:xfrm>
            <a:off x="0" y="1908440"/>
            <a:ext cx="11656194" cy="4893647"/>
          </a:xfrm>
          <a:prstGeom prst="rect">
            <a:avLst/>
          </a:prstGeom>
          <a:noFill/>
        </p:spPr>
        <p:txBody>
          <a:bodyPr wrap="square" rtlCol="0">
            <a:spAutoFit/>
          </a:bodyPr>
          <a:lstStyle/>
          <a:p>
            <a:r>
              <a:rPr kumimoji="1" lang="ja-JP" altLang="en-US" sz="2400" dirty="0"/>
              <a:t>＜まとめ＞</a:t>
            </a:r>
            <a:endParaRPr kumimoji="1" lang="en-US" altLang="ja-JP" sz="2400" dirty="0"/>
          </a:p>
          <a:p>
            <a:r>
              <a:rPr kumimoji="1" lang="ja-JP" altLang="en-US" sz="2400" dirty="0"/>
              <a:t>・株価の大まかな部分は一致しており、変動を予測できていた。</a:t>
            </a:r>
            <a:endParaRPr kumimoji="1" lang="en-US" altLang="ja-JP" sz="2400" dirty="0"/>
          </a:p>
          <a:p>
            <a:r>
              <a:rPr kumimoji="1" lang="ja-JP" altLang="en-US" sz="2400" dirty="0">
                <a:latin typeface="+mn-ea"/>
              </a:rPr>
              <a:t>・</a:t>
            </a:r>
            <a:r>
              <a:rPr kumimoji="1" lang="en-US" altLang="ja-JP" sz="2400" dirty="0">
                <a:latin typeface="+mn-ea"/>
              </a:rPr>
              <a:t>1987</a:t>
            </a:r>
            <a:r>
              <a:rPr kumimoji="1" lang="ja-JP" altLang="en-US" sz="2400" dirty="0">
                <a:latin typeface="+mn-ea"/>
              </a:rPr>
              <a:t>年から</a:t>
            </a:r>
            <a:r>
              <a:rPr kumimoji="1" lang="en-US" altLang="ja-JP" sz="2400" dirty="0">
                <a:latin typeface="+mn-ea"/>
              </a:rPr>
              <a:t>1988</a:t>
            </a:r>
            <a:r>
              <a:rPr kumimoji="1" lang="ja-JP" altLang="en-US" sz="2400" dirty="0">
                <a:latin typeface="+mn-ea"/>
              </a:rPr>
              <a:t>年までは再現できなかった。</a:t>
            </a:r>
            <a:endParaRPr kumimoji="1" lang="en-US" altLang="ja-JP" sz="2400" dirty="0">
              <a:latin typeface="+mn-ea"/>
            </a:endParaRPr>
          </a:p>
          <a:p>
            <a:r>
              <a:rPr kumimoji="1" lang="ja-JP" altLang="en-US" sz="2400" dirty="0">
                <a:latin typeface="+mn-ea"/>
              </a:rPr>
              <a:t>・急騰・急落や過去の情報を捉える特徴量を追加したが、再現はできなかった。</a:t>
            </a:r>
            <a:endParaRPr kumimoji="1" lang="en-US" altLang="ja-JP" sz="2400" dirty="0">
              <a:latin typeface="+mn-ea"/>
            </a:endParaRPr>
          </a:p>
          <a:p>
            <a:r>
              <a:rPr kumimoji="1" lang="ja-JP" altLang="en-US" sz="2400" dirty="0">
                <a:latin typeface="+mn-ea"/>
              </a:rPr>
              <a:t>しかし、モデルの精度は向上した。</a:t>
            </a:r>
            <a:endParaRPr kumimoji="1" lang="en-US" altLang="ja-JP" sz="2400" dirty="0">
              <a:latin typeface="+mn-ea"/>
            </a:endParaRPr>
          </a:p>
          <a:p>
            <a:endParaRPr kumimoji="1" lang="en-US" altLang="ja-JP" sz="2400" dirty="0">
              <a:latin typeface="+mn-ea"/>
            </a:endParaRPr>
          </a:p>
          <a:p>
            <a:r>
              <a:rPr kumimoji="1" lang="ja-JP" altLang="en-US" sz="2400" dirty="0">
                <a:latin typeface="+mn-ea"/>
              </a:rPr>
              <a:t>＜今後の課題＞</a:t>
            </a:r>
            <a:endParaRPr kumimoji="1" lang="en-US" altLang="ja-JP" sz="2400" dirty="0">
              <a:latin typeface="+mn-ea"/>
            </a:endParaRPr>
          </a:p>
          <a:p>
            <a:r>
              <a:rPr kumimoji="1" lang="ja-JP" altLang="en-US" sz="2400" dirty="0">
                <a:latin typeface="+mn-ea"/>
              </a:rPr>
              <a:t>・急騰・急落を再現することが課題となってくる。</a:t>
            </a:r>
            <a:endParaRPr kumimoji="1" lang="en-US" altLang="ja-JP" sz="2400" dirty="0">
              <a:latin typeface="+mn-ea"/>
            </a:endParaRPr>
          </a:p>
          <a:p>
            <a:r>
              <a:rPr kumimoji="1" lang="ja-JP" altLang="en-US" sz="2400" dirty="0">
                <a:latin typeface="+mn-ea"/>
              </a:rPr>
              <a:t>・バブル崩壊などの外的要因を説明できる特徴量を入れることで再現できる可能性がある。</a:t>
            </a:r>
            <a:endParaRPr kumimoji="1" lang="en-US" altLang="ja-JP" sz="2400" dirty="0">
              <a:latin typeface="+mn-ea"/>
            </a:endParaRPr>
          </a:p>
          <a:p>
            <a:r>
              <a:rPr kumimoji="1" lang="ja-JP" altLang="en-US" sz="2400" dirty="0">
                <a:latin typeface="+mn-ea"/>
              </a:rPr>
              <a:t>・学習区間の偏りが見られる。</a:t>
            </a:r>
            <a:endParaRPr kumimoji="1" lang="en-US" altLang="ja-JP" sz="2400" dirty="0">
              <a:latin typeface="+mn-ea"/>
            </a:endParaRPr>
          </a:p>
          <a:p>
            <a:r>
              <a:rPr kumimoji="1" lang="ja-JP" altLang="en-US" sz="2400" dirty="0">
                <a:latin typeface="+mn-ea"/>
              </a:rPr>
              <a:t>→</a:t>
            </a:r>
            <a:r>
              <a:rPr kumimoji="1" lang="en-US" altLang="ja-JP" sz="2400" dirty="0">
                <a:latin typeface="+mn-ea"/>
              </a:rPr>
              <a:t>1987</a:t>
            </a:r>
            <a:r>
              <a:rPr kumimoji="1" lang="ja-JP" altLang="en-US" sz="2400" dirty="0">
                <a:latin typeface="+mn-ea"/>
              </a:rPr>
              <a:t>年から</a:t>
            </a:r>
            <a:r>
              <a:rPr kumimoji="1" lang="en-US" altLang="ja-JP" sz="2400" dirty="0">
                <a:latin typeface="+mn-ea"/>
              </a:rPr>
              <a:t>2024</a:t>
            </a:r>
            <a:r>
              <a:rPr kumimoji="1" lang="ja-JP" altLang="en-US" sz="2400" dirty="0">
                <a:latin typeface="+mn-ea"/>
              </a:rPr>
              <a:t>年のデータが学習データとなっているため、学習区間を変更する必要がある。</a:t>
            </a:r>
            <a:endParaRPr kumimoji="1" lang="en-US" altLang="ja-JP" sz="2400" dirty="0">
              <a:latin typeface="+mn-ea"/>
            </a:endParaRPr>
          </a:p>
        </p:txBody>
      </p:sp>
    </p:spTree>
    <p:extLst>
      <p:ext uri="{BB962C8B-B14F-4D97-AF65-F5344CB8AC3E}">
        <p14:creationId xmlns:p14="http://schemas.microsoft.com/office/powerpoint/2010/main" val="39458874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縞模様">
  <a:themeElements>
    <a:clrScheme name="青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縞模様">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縞模様">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B7CF026C-957E-4F4E-893C-D02C23AB631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TM03090430[[fn=縞模様]]</Template>
  <TotalTime>374</TotalTime>
  <Words>1059</Words>
  <Application>Microsoft Office PowerPoint</Application>
  <PresentationFormat>ワイド画面</PresentationFormat>
  <Paragraphs>111</Paragraphs>
  <Slides>10</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游ゴシック</vt:lpstr>
      <vt:lpstr>Corbel</vt:lpstr>
      <vt:lpstr>Wingdings</vt:lpstr>
      <vt:lpstr>縞模様</vt:lpstr>
      <vt:lpstr>NTT株価予測モデルの構築と精度改善</vt:lpstr>
      <vt:lpstr>概要</vt:lpstr>
      <vt:lpstr>背景：株価予測とAIの需要</vt:lpstr>
      <vt:lpstr>データの概要：使用データとその前処理</vt:lpstr>
      <vt:lpstr>モデルの概要：LIghtGBMと使用した特徴量</vt:lpstr>
      <vt:lpstr>評価指数：R²を使った評価とその結果</vt:lpstr>
      <vt:lpstr>検証内容：モデルの学習結果</vt:lpstr>
      <vt:lpstr>検証結果１：急騰・急落を捉える特徴量を入れる</vt:lpstr>
      <vt:lpstr>検証結果２：過去を捉える特徴量を入れる</vt:lpstr>
      <vt:lpstr>まとめ：これまでの結果と今後の課題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藤岡　勇翔</dc:creator>
  <cp:lastModifiedBy>藤岡　勇翔</cp:lastModifiedBy>
  <cp:revision>1</cp:revision>
  <dcterms:created xsi:type="dcterms:W3CDTF">2025-12-01T13:56:29Z</dcterms:created>
  <dcterms:modified xsi:type="dcterms:W3CDTF">2025-12-01T20:10:57Z</dcterms:modified>
</cp:coreProperties>
</file>